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0515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12314F"/>
                </a:solidFill>
                <a:latin typeface="Segoe UI Semibold"/>
              </a:rPr>
              <a:t>PLUGINLIVE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1481328"/>
            <a:ext cx="1280160" cy="27940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8778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5200" b="1" i="0">
                <a:solidFill>
                  <a:srgbClr val="0F2233"/>
                </a:solidFill>
                <a:latin typeface="Segoe UI Semibold"/>
              </a:rPr>
              <a:t>Infrastructure cost
optimisation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703320"/>
            <a:ext cx="8503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1C4A78"/>
                </a:solidFill>
                <a:latin typeface="Segoe UI"/>
              </a:rPr>
              <a:t>Summary of all plans — Phase 0, Plan A, Plan B1, Plan B2, Plan C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4343400"/>
            <a:ext cx="8503920" cy="12700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617720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5F7183"/>
                </a:solidFill>
                <a:latin typeface="Consolas"/>
              </a:rPr>
              <a:t>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846320"/>
            <a:ext cx="1645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 i="0">
                <a:solidFill>
                  <a:srgbClr val="0F2233"/>
                </a:solidFill>
                <a:latin typeface="Segoe UI"/>
              </a:rPr>
              <a:t>4.0 · consolidated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7208" y="4617720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5F7183"/>
                </a:solidFill>
                <a:latin typeface="Consolas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7208" y="4846320"/>
            <a:ext cx="1645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 i="0">
                <a:solidFill>
                  <a:srgbClr val="0F2233"/>
                </a:solidFill>
                <a:latin typeface="Segoe UI"/>
              </a:rPr>
              <a:t>25 August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4617720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5F7183"/>
                </a:solidFill>
                <a:latin typeface="Consolas"/>
              </a:rPr>
              <a:t>PREPARED 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4846320"/>
            <a:ext cx="1645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 i="0">
                <a:solidFill>
                  <a:srgbClr val="0F2233"/>
                </a:solidFill>
                <a:latin typeface="Segoe UI"/>
              </a:rPr>
              <a:t>Infrastructure / FinOps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4617720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5F7183"/>
                </a:solidFill>
                <a:latin typeface="Consolas"/>
              </a:rPr>
              <a:t>DECISION OWNER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4846320"/>
            <a:ext cx="1645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 i="0">
                <a:solidFill>
                  <a:srgbClr val="0F2233"/>
                </a:solidFill>
                <a:latin typeface="Segoe UI"/>
              </a:rPr>
              <a:t>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4617720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5F7183"/>
                </a:solidFill>
                <a:latin typeface="Consolas"/>
              </a:rPr>
              <a:t>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4152" y="4846320"/>
            <a:ext cx="1645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 i="0">
                <a:solidFill>
                  <a:srgbClr val="0F2233"/>
                </a:solidFill>
                <a:latin typeface="Segoe UI"/>
              </a:rPr>
              <a:t>For approval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" y="5715000"/>
            <a:ext cx="2286000" cy="310896"/>
          </a:xfrm>
          <a:prstGeom prst="rect">
            <a:avLst/>
          </a:prstGeom>
          <a:noFill/>
          <a:ln w="9525">
            <a:solidFill>
              <a:srgbClr val="A42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788152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A4262C"/>
                </a:solidFill>
                <a:latin typeface="Consolas"/>
              </a:rPr>
              <a:t>INTERNAL —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2032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i="0">
                <a:solidFill>
                  <a:srgbClr val="12314F"/>
                </a:solidFill>
                <a:latin typeface="Segoe UI"/>
              </a:rPr>
              <a:t>PLUGINLIVE</a:t>
            </a:r>
            <a:r>
              <a:rPr sz="1050" b="0" i="0">
                <a:solidFill>
                  <a:srgbClr val="5F7183"/>
                </a:solidFill>
                <a:latin typeface="Segoe UI"/>
              </a:rPr>
              <a:t>     Infrastructure cost optimisation — summary of all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1C4A78"/>
                </a:solidFill>
                <a:latin typeface="Consolas"/>
              </a:rPr>
              <a:t>SECTION 1 · PURPOSE AND FINANCIAL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16736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0F2233"/>
                </a:solidFill>
                <a:latin typeface="Segoe UI Semibold"/>
              </a:rPr>
              <a:t>The position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8366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33424F"/>
                </a:solidFill>
                <a:latin typeface="Segoe UI"/>
              </a:rPr>
              <a:t>Two hard constraints: everything stays in an India region, and performance must be no worse than today. All four options satisfy both — they differ by roughly ₹5,000 to ₹23,000 per month, and by an order of magnitude in migration risk.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Segoe UI"/>
              </a:rPr>
              <a:t>Internal — Confidential · Version 4.0 · 25 August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Segoe UI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926080"/>
            <a:ext cx="2109155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054096"/>
            <a:ext cx="18348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Consolas"/>
              </a:rPr>
              <a:t>ORIGINAL RUN-RATE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291840"/>
            <a:ext cx="183483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2314F"/>
                </a:solidFill>
                <a:latin typeface="Segoe UI Semibold"/>
              </a:rPr>
              <a:t>₹1,27,600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712464"/>
            <a:ext cx="18348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 i="0">
                <a:solidFill>
                  <a:srgbClr val="5F7183"/>
                </a:solidFill>
                <a:latin typeface="Segoe UI"/>
              </a:rPr>
              <a:t>before Phase 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04099" y="2926080"/>
            <a:ext cx="2109155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50403" y="3054096"/>
            <a:ext cx="18348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Consolas"/>
              </a:rPr>
              <a:t>ALREADY BANKED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0403" y="3291840"/>
            <a:ext cx="183483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2314F"/>
                </a:solidFill>
                <a:latin typeface="Segoe UI Semibold"/>
              </a:rPr>
              <a:t>₹44,000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0403" y="3712464"/>
            <a:ext cx="18348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 i="0">
                <a:solidFill>
                  <a:srgbClr val="5F7183"/>
                </a:solidFill>
                <a:latin typeface="Segoe UI"/>
              </a:rPr>
              <a:t>Phase 0, complete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41270" y="2926080"/>
            <a:ext cx="2109155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87574" y="3054096"/>
            <a:ext cx="18348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Consolas"/>
              </a:rPr>
              <a:t>CURRENT RUN-RATE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7574" y="3291840"/>
            <a:ext cx="183483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2314F"/>
                </a:solidFill>
                <a:latin typeface="Segoe UI Semibold"/>
              </a:rPr>
              <a:t>₹84,800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7574" y="3712464"/>
            <a:ext cx="18348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 i="0">
                <a:solidFill>
                  <a:srgbClr val="5F7183"/>
                </a:solidFill>
                <a:latin typeface="Segoe UI"/>
              </a:rPr>
              <a:t>baseline for this paper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78441" y="2926080"/>
            <a:ext cx="2109155" cy="1078992"/>
          </a:xfrm>
          <a:prstGeom prst="rect">
            <a:avLst/>
          </a:prstGeom>
          <a:solidFill>
            <a:srgbClr val="F4F7F9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4745" y="3054096"/>
            <a:ext cx="18348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Consolas"/>
              </a:rPr>
              <a:t>PLAN A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4745" y="3291840"/>
            <a:ext cx="183483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2314F"/>
                </a:solidFill>
                <a:latin typeface="Segoe UI Semibold"/>
              </a:rPr>
              <a:t>₹21,000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4745" y="3712464"/>
            <a:ext cx="18348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 i="0">
                <a:solidFill>
                  <a:srgbClr val="5F7183"/>
                </a:solidFill>
                <a:latin typeface="Segoe UI"/>
              </a:rPr>
              <a:t>−75% versus today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15612" y="2926080"/>
            <a:ext cx="2109155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61916" y="3054096"/>
            <a:ext cx="18348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Consolas"/>
              </a:rPr>
              <a:t>ALTERNATIVES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61916" y="3291840"/>
            <a:ext cx="183483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2314F"/>
                </a:solidFill>
                <a:latin typeface="Segoe UI Semibold"/>
              </a:rPr>
              <a:t>₹26k–44k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61916" y="3712464"/>
            <a:ext cx="18348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 i="0">
                <a:solidFill>
                  <a:srgbClr val="5F7183"/>
                </a:solidFill>
                <a:latin typeface="Segoe UI"/>
              </a:rPr>
              <a:t>B2 · C · B1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66928" y="4224528"/>
          <a:ext cx="11057837" cy="22219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86605"/>
                <a:gridCol w="1769254"/>
                <a:gridCol w="1769254"/>
                <a:gridCol w="2432724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STAGE / OPTION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₹ PER MONTH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VERSUS TODAY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Original estate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1,27,600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Superseded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Phase 0 — duplicate PG14 estate removed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5653F"/>
                          </a:solidFill>
                          <a:latin typeface="Consolas"/>
                        </a:rPr>
                        <a:t>−44,000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Complete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Current run-rate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84,800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baseline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Live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Plan A — re-shape on Oracle Cloud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≈ 21,000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5653F"/>
                          </a:solidFill>
                          <a:latin typeface="Consolas"/>
                        </a:rPr>
                        <a:t>−75%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Under appraisal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Plan B1 — Cloud Run, lift and shift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≈ 44,000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5653F"/>
                          </a:solidFill>
                          <a:latin typeface="Consolas"/>
                        </a:rPr>
                        <a:t>−48%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Under appraisal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Plan B2 — Cloud Run, after queue rewrite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≈ 26,000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5653F"/>
                          </a:solidFill>
                          <a:latin typeface="Consolas"/>
                        </a:rPr>
                        <a:t>−69%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Under appraisal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Plan C — Azure Container Apps, self-managed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≈ 41,300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5653F"/>
                          </a:solidFill>
                          <a:latin typeface="Consolas"/>
                        </a:rPr>
                        <a:t>−51%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Under appraisal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2032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i="0">
                <a:solidFill>
                  <a:srgbClr val="12314F"/>
                </a:solidFill>
                <a:latin typeface="Segoe UI"/>
              </a:rPr>
              <a:t>PLUGINLIVE</a:t>
            </a:r>
            <a:r>
              <a:rPr sz="1050" b="0" i="0">
                <a:solidFill>
                  <a:srgbClr val="5F7183"/>
                </a:solidFill>
                <a:latin typeface="Segoe UI"/>
              </a:rPr>
              <a:t>     Infrastructure cost optimisation — summary of all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1C4A78"/>
                </a:solidFill>
                <a:latin typeface="Consolas"/>
              </a:rPr>
              <a:t>SECTION 2 · OPTIONS APPRAISAL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16736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0F2233"/>
                </a:solidFill>
                <a:latin typeface="Segoe UI Semibold"/>
              </a:rPr>
              <a:t>Four costed options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Segoe UI"/>
              </a:rPr>
              <a:t>Internal — Confidential · Version 4.0 · 25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Segoe U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48256"/>
            <a:ext cx="2654731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048256"/>
            <a:ext cx="2654731" cy="33020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31136"/>
            <a:ext cx="232554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5F7183"/>
                </a:solidFill>
                <a:latin typeface="Consolas"/>
              </a:rPr>
              <a:t>OPTION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232554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0F2233"/>
                </a:solidFill>
                <a:latin typeface="Segoe UI Semibold"/>
              </a:rPr>
              <a:t>Plan A — Oracle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08960"/>
            <a:ext cx="232554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i="0">
                <a:solidFill>
                  <a:srgbClr val="12314F"/>
                </a:solidFill>
                <a:latin typeface="Segoe UI Semibold"/>
              </a:rPr>
              <a:t>₹21,000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38728"/>
            <a:ext cx="232554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 i="0">
                <a:solidFill>
                  <a:srgbClr val="5F7183"/>
                </a:solidFill>
                <a:latin typeface="Segoe UI"/>
              </a:rPr>
              <a:t>7 weeks · moderate effort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58768"/>
            <a:ext cx="232554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5653F"/>
                </a:solidFill>
                <a:latin typeface="Segoe UI"/>
              </a:rPr>
              <a:t>—  </a:t>
            </a:r>
            <a:r>
              <a:rPr sz="1050" b="0">
                <a:solidFill>
                  <a:srgbClr val="33424F"/>
                </a:solidFill>
                <a:latin typeface="Segoe UI"/>
              </a:rPr>
              <a:t>−75% versus today</a:t>
            </a:r>
          </a:p>
          <a:p>
            <a:pPr marL="165100" indent="-165100"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5653F"/>
                </a:solidFill>
                <a:latin typeface="Segoe UI"/>
              </a:rPr>
              <a:t>—  </a:t>
            </a:r>
            <a:r>
              <a:rPr sz="1050" b="0">
                <a:solidFill>
                  <a:srgbClr val="33424F"/>
                </a:solidFill>
                <a:latin typeface="Segoe UI"/>
              </a:rPr>
              <a:t>₹8,488 saved in week 0</a:t>
            </a:r>
          </a:p>
          <a:p>
            <a:pPr marL="165100" indent="-165100"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5653F"/>
                </a:solidFill>
                <a:latin typeface="Segoe UI"/>
              </a:rPr>
              <a:t>—  </a:t>
            </a:r>
            <a:r>
              <a:rPr sz="1050" b="0">
                <a:solidFill>
                  <a:srgbClr val="33424F"/>
                </a:solidFill>
                <a:latin typeface="Segoe UI"/>
              </a:rPr>
              <a:t>No data migration</a:t>
            </a:r>
          </a:p>
          <a:p>
            <a:pPr marL="165100" indent="-165100"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5653F"/>
                </a:solidFill>
                <a:latin typeface="Segoe UI"/>
              </a:rPr>
              <a:t>—  </a:t>
            </a:r>
            <a:r>
              <a:rPr sz="1050" b="0">
                <a:solidFill>
                  <a:srgbClr val="33424F"/>
                </a:solidFill>
                <a:latin typeface="Segoe UI"/>
              </a:rPr>
              <a:t>Reversible at every step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7963" y="2048256"/>
            <a:ext cx="2654731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7963" y="2048256"/>
            <a:ext cx="2654731" cy="33020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2555" y="2231136"/>
            <a:ext cx="232554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5F7183"/>
                </a:solidFill>
                <a:latin typeface="Consolas"/>
              </a:rPr>
              <a:t>OPTION B1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2555" y="2468880"/>
            <a:ext cx="232554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0F2233"/>
                </a:solidFill>
                <a:latin typeface="Segoe UI Semibold"/>
              </a:rPr>
              <a:t>Plan B1 — Cloud 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2555" y="3108960"/>
            <a:ext cx="232554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i="0">
                <a:solidFill>
                  <a:srgbClr val="12314F"/>
                </a:solidFill>
                <a:latin typeface="Segoe UI Semibold"/>
              </a:rPr>
              <a:t>₹44,000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2555" y="3538728"/>
            <a:ext cx="232554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 i="0">
                <a:solidFill>
                  <a:srgbClr val="5F7183"/>
                </a:solidFill>
                <a:latin typeface="Segoe UI"/>
              </a:rPr>
              <a:t>10 weeks · high effort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2555" y="3858768"/>
            <a:ext cx="232554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5653F"/>
                </a:solidFill>
                <a:latin typeface="Segoe UI"/>
              </a:rPr>
              <a:t>—  </a:t>
            </a:r>
            <a:r>
              <a:rPr sz="1050" b="0">
                <a:solidFill>
                  <a:srgbClr val="33424F"/>
                </a:solidFill>
                <a:latin typeface="Segoe UI"/>
              </a:rPr>
              <a:t>−48% versus today</a:t>
            </a:r>
          </a:p>
          <a:p>
            <a:pPr marL="165100" indent="-165100"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5653F"/>
                </a:solidFill>
                <a:latin typeface="Segoe UI"/>
              </a:rPr>
              <a:t>—  </a:t>
            </a:r>
            <a:r>
              <a:rPr sz="1050" b="0">
                <a:solidFill>
                  <a:srgbClr val="33424F"/>
                </a:solidFill>
                <a:latin typeface="Segoe UI"/>
              </a:rPr>
              <a:t>Native scale-to-zero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32555" y="4498848"/>
            <a:ext cx="232554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9A4B18"/>
                </a:solidFill>
                <a:latin typeface="Segoe UI"/>
              </a:rPr>
              <a:t>—  </a:t>
            </a:r>
            <a:r>
              <a:rPr sz="1050" b="0">
                <a:solidFill>
                  <a:srgbClr val="33424F"/>
                </a:solidFill>
                <a:latin typeface="Segoe UI"/>
              </a:rPr>
              <a:t>Workers held warm — ₹11,500/mo</a:t>
            </a:r>
          </a:p>
          <a:p>
            <a:pPr marL="165100" indent="-165100"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9A4B18"/>
                </a:solidFill>
                <a:latin typeface="Segoe UI"/>
              </a:rPr>
              <a:t>—  </a:t>
            </a:r>
            <a:r>
              <a:rPr sz="1050" b="0">
                <a:solidFill>
                  <a:srgbClr val="33424F"/>
                </a:solidFill>
                <a:latin typeface="Segoe UI"/>
              </a:rPr>
              <a:t>10 GB DB + 160 GB media move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68998" y="2048256"/>
            <a:ext cx="2654731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68998" y="2048256"/>
            <a:ext cx="2654731" cy="33020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3590" y="2231136"/>
            <a:ext cx="232554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5F7183"/>
                </a:solidFill>
                <a:latin typeface="Consolas"/>
              </a:rPr>
              <a:t>OPTION B2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3590" y="2468880"/>
            <a:ext cx="232554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0F2233"/>
                </a:solidFill>
                <a:latin typeface="Segoe UI Semibold"/>
              </a:rPr>
              <a:t>Plan B2 — + queue rewrite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3590" y="3108960"/>
            <a:ext cx="232554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i="0">
                <a:solidFill>
                  <a:srgbClr val="12314F"/>
                </a:solidFill>
                <a:latin typeface="Segoe UI Semibold"/>
              </a:rPr>
              <a:t>₹26,000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3590" y="3538728"/>
            <a:ext cx="232554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 i="0">
                <a:solidFill>
                  <a:srgbClr val="5F7183"/>
                </a:solidFill>
                <a:latin typeface="Segoe UI"/>
              </a:rPr>
              <a:t>14 weeks · very high effort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3590" y="3858768"/>
            <a:ext cx="232554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5653F"/>
                </a:solidFill>
                <a:latin typeface="Segoe UI"/>
              </a:rPr>
              <a:t>—  </a:t>
            </a:r>
            <a:r>
              <a:rPr sz="1050" b="0">
                <a:solidFill>
                  <a:srgbClr val="33424F"/>
                </a:solidFill>
                <a:latin typeface="Segoe UI"/>
              </a:rPr>
              <a:t>−69% versus today</a:t>
            </a:r>
          </a:p>
          <a:p>
            <a:pPr marL="165100" indent="-165100"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5653F"/>
                </a:solidFill>
                <a:latin typeface="Segoe UI"/>
              </a:rPr>
              <a:t>—  </a:t>
            </a:r>
            <a:r>
              <a:rPr sz="1050" b="0">
                <a:solidFill>
                  <a:srgbClr val="33424F"/>
                </a:solidFill>
                <a:latin typeface="Segoe UI"/>
              </a:rPr>
              <a:t>Workers scale to zero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3590" y="4498848"/>
            <a:ext cx="232554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9A4B18"/>
                </a:solidFill>
                <a:latin typeface="Segoe UI"/>
              </a:rPr>
              <a:t>—  </a:t>
            </a:r>
            <a:r>
              <a:rPr sz="1050" b="0">
                <a:solidFill>
                  <a:srgbClr val="33424F"/>
                </a:solidFill>
                <a:latin typeface="Segoe UI"/>
              </a:rPr>
              <a:t>Requires BullMQ rewrite</a:t>
            </a:r>
          </a:p>
          <a:p>
            <a:pPr marL="165100" indent="-165100"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9A4B18"/>
                </a:solidFill>
                <a:latin typeface="Segoe UI"/>
              </a:rPr>
              <a:t>—  </a:t>
            </a:r>
            <a:r>
              <a:rPr sz="1050" b="0">
                <a:solidFill>
                  <a:srgbClr val="33424F"/>
                </a:solidFill>
                <a:latin typeface="Segoe UI"/>
              </a:rPr>
              <a:t>Still ₹5,000/mo worse than 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70033" y="2048256"/>
            <a:ext cx="2654731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70033" y="2048256"/>
            <a:ext cx="2654731" cy="33020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34625" y="2231136"/>
            <a:ext cx="232554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5F7183"/>
                </a:solidFill>
                <a:latin typeface="Consolas"/>
              </a:rPr>
              <a:t>OPTION 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4625" y="2468880"/>
            <a:ext cx="232554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0F2233"/>
                </a:solidFill>
                <a:latin typeface="Segoe UI Semibold"/>
              </a:rPr>
              <a:t>Plan C — Azure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34625" y="3108960"/>
            <a:ext cx="232554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i="0">
                <a:solidFill>
                  <a:srgbClr val="12314F"/>
                </a:solidFill>
                <a:latin typeface="Segoe UI Semibold"/>
              </a:rPr>
              <a:t>₹41,300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34625" y="3538728"/>
            <a:ext cx="232554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 i="0">
                <a:solidFill>
                  <a:srgbClr val="5F7183"/>
                </a:solidFill>
                <a:latin typeface="Segoe UI"/>
              </a:rPr>
              <a:t>9–12 weeks · high effort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34625" y="3858768"/>
            <a:ext cx="232554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5653F"/>
                </a:solidFill>
                <a:latin typeface="Segoe UI"/>
              </a:rPr>
              <a:t>—  </a:t>
            </a:r>
            <a:r>
              <a:rPr sz="1050" b="0">
                <a:solidFill>
                  <a:srgbClr val="33424F"/>
                </a:solidFill>
                <a:latin typeface="Segoe UI"/>
              </a:rPr>
              <a:t>−51%; ₹27,000 fully optimised</a:t>
            </a:r>
          </a:p>
          <a:p>
            <a:pPr marL="165100" indent="-165100"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5653F"/>
                </a:solidFill>
                <a:latin typeface="Segoe UI"/>
              </a:rPr>
              <a:t>—  </a:t>
            </a:r>
            <a:r>
              <a:rPr sz="1050" b="0">
                <a:solidFill>
                  <a:srgbClr val="33424F"/>
                </a:solidFill>
                <a:latin typeface="Segoe UI"/>
              </a:rPr>
              <a:t>KEDA built in — no rewrite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34625" y="4498848"/>
            <a:ext cx="232554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9A4B18"/>
                </a:solidFill>
                <a:latin typeface="Segoe UI"/>
              </a:rPr>
              <a:t>—  </a:t>
            </a:r>
            <a:r>
              <a:rPr sz="1050" b="0">
                <a:solidFill>
                  <a:srgbClr val="33424F"/>
                </a:solidFill>
                <a:latin typeface="Segoe UI"/>
              </a:rPr>
              <a:t>Same migration as Plan B</a:t>
            </a:r>
          </a:p>
          <a:p>
            <a:pPr marL="165100" indent="-165100"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9A4B18"/>
                </a:solidFill>
                <a:latin typeface="Segoe UI"/>
              </a:rPr>
              <a:t>—  </a:t>
            </a:r>
            <a:r>
              <a:rPr sz="1050" b="0">
                <a:solidFill>
                  <a:srgbClr val="33424F"/>
                </a:solidFill>
                <a:latin typeface="Segoe UI"/>
              </a:rPr>
              <a:t>Memory floor near ₹30,000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2032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i="0">
                <a:solidFill>
                  <a:srgbClr val="12314F"/>
                </a:solidFill>
                <a:latin typeface="Segoe UI"/>
              </a:rPr>
              <a:t>PLUGINLIVE</a:t>
            </a:r>
            <a:r>
              <a:rPr sz="1050" b="0" i="0">
                <a:solidFill>
                  <a:srgbClr val="5F7183"/>
                </a:solidFill>
                <a:latin typeface="Segoe UI"/>
              </a:rPr>
              <a:t>     Infrastructure cost optimisation — summary of all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1C4A78"/>
                </a:solidFill>
                <a:latin typeface="Consolas"/>
              </a:rPr>
              <a:t>SECTION 2.1 · WHY NO MIGRATION TARGET REACHES ₹21,000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16736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0F2233"/>
                </a:solidFill>
                <a:latin typeface="Segoe UI Semibold"/>
              </a:rPr>
              <a:t>The rate that decides the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8366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33424F"/>
                </a:solidFill>
                <a:latin typeface="Segoe UI"/>
              </a:rPr>
              <a:t>The estate is memory-heavy and CPU-light — 44 GiB resident against 1.35 cores in use. The deciding figure is the price of one permanently resident unit of capacity: the nearest equivalent of an OCI baseline node, 4 OCPU and 24 GB, held warm for a month.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Segoe UI"/>
              </a:rPr>
              <a:t>Internal — Confidential · Version 4.0 · 25 August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Segoe UI"/>
              </a:rPr>
              <a:t>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3182112"/>
          <a:ext cx="7406639" cy="22768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21992"/>
                <a:gridCol w="2518257"/>
                <a:gridCol w="1481328"/>
                <a:gridCol w="1185062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PROVIDER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NEAREST EQUIVALENT SHAPE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₹ / MONTH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× OCI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OCI Ampere A1 — current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4 OCPU / 24 GB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4,421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5653F"/>
                          </a:solidFill>
                          <a:latin typeface="Consolas"/>
                        </a:rPr>
                        <a:t>1.0×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AWS Graviton, ap-south-1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m7g.xlarge — 4 vCPU / 16 GiB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≈ 11,000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9A4B18"/>
                          </a:solidFill>
                          <a:latin typeface="Consolas"/>
                        </a:rPr>
                        <a:t>2.5×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DigitalOcean, Bangalore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General purpose — 4 vCPU / 16 GB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≈ 11,100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9A4B18"/>
                          </a:solidFill>
                          <a:latin typeface="Consolas"/>
                        </a:rPr>
                        <a:t>2.5×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Azure VM, Central India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D4ps_v5 — 4 vCPU / 16 GiB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≈ 12,200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9A4B18"/>
                          </a:solidFill>
                          <a:latin typeface="Consolas"/>
                        </a:rPr>
                        <a:t>2.8×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Azure Container Apps — idle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4 vCPU / 24 GiB warm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≈ 19,300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9A4B18"/>
                          </a:solidFill>
                          <a:latin typeface="Consolas"/>
                        </a:rPr>
                        <a:t>4.4×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Google Cloud Run — always on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4 vCPU / 24 GiB warm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≈ 41,300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A4262C"/>
                          </a:solidFill>
                          <a:latin typeface="Consolas"/>
                        </a:rPr>
                        <a:t>9.3×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247888" y="3182112"/>
            <a:ext cx="3376879" cy="2432304"/>
          </a:xfrm>
          <a:prstGeom prst="rect">
            <a:avLst/>
          </a:prstGeom>
          <a:solidFill>
            <a:srgbClr val="F4F7F9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47888" y="3182112"/>
            <a:ext cx="40640" cy="2432304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49056" y="3346704"/>
            <a:ext cx="2965399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0F2233"/>
                </a:solidFill>
                <a:latin typeface="Segoe UI"/>
              </a:rPr>
              <a:t>Memory is the constraint.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33424F"/>
                </a:solidFill>
                <a:latin typeface="Segoe UI"/>
              </a:rPr>
              <a:t>OCI Ampere A1 prices memory at </a:t>
            </a:r>
            <a:r>
              <a:rPr sz="1150" b="1" i="0">
                <a:solidFill>
                  <a:srgbClr val="0F2233"/>
                </a:solidFill>
                <a:latin typeface="Segoe UI"/>
              </a:rPr>
              <a:t>₹86.82 per GB-month</a:t>
            </a:r>
            <a:r>
              <a:rPr sz="1150" b="0" i="0">
                <a:solidFill>
                  <a:srgbClr val="33424F"/>
                </a:solidFill>
                <a:latin typeface="Segoe UI"/>
              </a:rPr>
              <a:t>. Every alternative charges ₹300 to ₹700 for the same gigabyte.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33424F"/>
                </a:solidFill>
                <a:latin typeface="Segoe UI"/>
              </a:rPr>
              <a:t>Compute is where rivals come closest, at 2–3×. Memory is where they are 5–10× dearer — and memory is what this estate consumes.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632704"/>
            <a:ext cx="11057839" cy="713232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5779008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Screening rule: </a:t>
            </a:r>
            <a:r>
              <a:rPr sz="1300" b="0" i="0">
                <a:solidFill>
                  <a:srgbClr val="FFFFFF"/>
                </a:solidFill>
                <a:latin typeface="Segoe UI"/>
              </a:rPr>
              <a:t>if a provider cannot price memory below roughly ₹150 per GB-month, it cannot reach Plan A — and the rest of the modelling is wasted effort.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2032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i="0">
                <a:solidFill>
                  <a:srgbClr val="12314F"/>
                </a:solidFill>
                <a:latin typeface="Segoe UI"/>
              </a:rPr>
              <a:t>PLUGINLIVE</a:t>
            </a:r>
            <a:r>
              <a:rPr sz="1050" b="0" i="0">
                <a:solidFill>
                  <a:srgbClr val="5F7183"/>
                </a:solidFill>
                <a:latin typeface="Segoe UI"/>
              </a:rPr>
              <a:t>     Infrastructure cost optimisation — summary of all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1C4A78"/>
                </a:solidFill>
                <a:latin typeface="Consolas"/>
              </a:rPr>
              <a:t>SECTION 4 · EVIDENCE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16736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0F2233"/>
                </a:solidFill>
                <a:latin typeface="Segoe UI Semibold"/>
              </a:rPr>
              <a:t>What the estate actually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8366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33424F"/>
                </a:solidFill>
                <a:latin typeface="Segoe UI"/>
              </a:rPr>
              <a:t>Measured from the live estate and the production database on 17 August 2026, with the cluster re-checked on 27 August.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Segoe UI"/>
              </a:rPr>
              <a:t>Internal — Confidential · Version 4.0 · 25 August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Segoe UI"/>
              </a:rPr>
              <a:t>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2871216"/>
          <a:ext cx="11057837" cy="33649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17351"/>
                <a:gridCol w="2211567"/>
                <a:gridCol w="5528919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MEASUREMENT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VALUE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IMPLICATION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Assessment submissions, last 30 days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648 (~21/day)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Peak hour was 32 submissions — one every 112 seconds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Hours with any activity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251 of 720 (34.9%)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Two thirds of the month is completely idle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Kubernetes CPU in use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1.35 of 20 cores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Nodes run at 2–11% utilisation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Memory in use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44 of 120 GB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Memory is the binding cost driver, not CPU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Sum of pod CPU requests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~6.5 cores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fast-api alone reserves 5× the cluster's real usage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Production database size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10 GB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Held by a managed service costing ₹21,870/month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Open database connections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213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PgBouncer takes this to about 20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Block and boot storage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~2,900 GB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One static-site VM carries a 500 GB boot volume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Container images in registry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407 GB + 151 GB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No retention policy has ever run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verify-frame cold vs warm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3.3 s → 8 ms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The exam path can never scale to zero — in any plan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2032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i="0">
                <a:solidFill>
                  <a:srgbClr val="12314F"/>
                </a:solidFill>
                <a:latin typeface="Segoe UI"/>
              </a:rPr>
              <a:t>PLUGINLIVE</a:t>
            </a:r>
            <a:r>
              <a:rPr sz="1050" b="0" i="0">
                <a:solidFill>
                  <a:srgbClr val="5F7183"/>
                </a:solidFill>
                <a:latin typeface="Segoe UI"/>
              </a:rPr>
              <a:t>     Infrastructure cost optimisation — summary of all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1C4A78"/>
                </a:solidFill>
                <a:latin typeface="Consolas"/>
              </a:rPr>
              <a:t>SECTION 3 · COMPLETE, 17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16736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0F2233"/>
                </a:solidFill>
                <a:latin typeface="Segoe UI Semibold"/>
              </a:rPr>
              <a:t>Phase 0 — already banked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Segoe UI"/>
              </a:rPr>
              <a:t>Internal — Confidential · Version 4.0 · 25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Segoe U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39696"/>
            <a:ext cx="3200400" cy="1371600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35915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Segoe UI Semibold"/>
              </a:rPr>
              <a:t>₹44,000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98094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C7D966"/>
                </a:solidFill>
                <a:latin typeface="Segoe UI"/>
              </a:rPr>
              <a:t>per month, removed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749040"/>
            <a:ext cx="3200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33424F"/>
                </a:solidFill>
                <a:latin typeface="Segoe UI"/>
              </a:rPr>
              <a:t>The database was cut over to pl-prod-pg16 on 31 July, but the previous PostgreSQL 14 system — two instances of 2 OCPU and 32 GB — kept running in parallel with nothing connected to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8" y="2139696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 i="0">
                <a:solidFill>
                  <a:srgbClr val="1C4A78"/>
                </a:solidFill>
                <a:latin typeface="Consolas"/>
              </a:rPr>
              <a:t>VERIFIED BEFORE DELETION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3088" y="2459736"/>
            <a:ext cx="38404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12000"/>
              </a:lnSpc>
              <a:spcAft>
                <a:spcPts val="700"/>
              </a:spcAft>
            </a:pPr>
            <a:r>
              <a:rPr sz="1150">
                <a:solidFill>
                  <a:srgbClr val="1C4A78"/>
                </a:solidFill>
                <a:latin typeface="Segoe UI"/>
              </a:rPr>
              <a:t>—  </a:t>
            </a:r>
            <a:r>
              <a:rPr sz="1150" b="0">
                <a:solidFill>
                  <a:srgbClr val="33424F"/>
                </a:solidFill>
                <a:latin typeface="Segoe UI"/>
              </a:rPr>
              <a:t>Zero client connections; 2 inserts, 3 updates, 0 deletes over eight days</a:t>
            </a:r>
          </a:p>
          <a:p>
            <a:pPr marL="165100" indent="-165100">
              <a:lnSpc>
                <a:spcPct val="112000"/>
              </a:lnSpc>
              <a:spcAft>
                <a:spcPts val="700"/>
              </a:spcAft>
            </a:pPr>
            <a:r>
              <a:rPr sz="1150">
                <a:solidFill>
                  <a:srgbClr val="1C4A78"/>
                </a:solidFill>
                <a:latin typeface="Segoe UI"/>
              </a:rPr>
              <a:t>—  </a:t>
            </a:r>
            <a:r>
              <a:rPr sz="1150" b="0">
                <a:solidFill>
                  <a:srgbClr val="33424F"/>
                </a:solidFill>
                <a:latin typeface="Segoe UI"/>
              </a:rPr>
              <a:t>Last row written 3 August versus 17 August on the live system</a:t>
            </a:r>
          </a:p>
          <a:p>
            <a:pPr marL="165100" indent="-165100">
              <a:lnSpc>
                <a:spcPct val="112000"/>
              </a:lnSpc>
              <a:spcAft>
                <a:spcPts val="700"/>
              </a:spcAft>
            </a:pPr>
            <a:r>
              <a:rPr sz="1150">
                <a:solidFill>
                  <a:srgbClr val="1C4A78"/>
                </a:solidFill>
                <a:latin typeface="Segoe UI"/>
              </a:rPr>
              <a:t>—  </a:t>
            </a:r>
            <a:r>
              <a:rPr sz="1150" b="0">
                <a:solidFill>
                  <a:srgbClr val="33424F"/>
                </a:solidFill>
                <a:latin typeface="Segoe UI"/>
              </a:rPr>
              <a:t>Diverged by 295 students and 5,629 assignment records — a frozen snapshot</a:t>
            </a:r>
          </a:p>
          <a:p>
            <a:pPr marL="165100" indent="-165100">
              <a:lnSpc>
                <a:spcPct val="112000"/>
              </a:lnSpc>
              <a:spcAft>
                <a:spcPts val="700"/>
              </a:spcAft>
            </a:pPr>
            <a:r>
              <a:rPr sz="1150">
                <a:solidFill>
                  <a:srgbClr val="1C4A78"/>
                </a:solidFill>
                <a:latin typeface="Segoe UI"/>
              </a:rPr>
              <a:t>—  </a:t>
            </a:r>
            <a:r>
              <a:rPr sz="1150" b="0">
                <a:solidFill>
                  <a:srgbClr val="33424F"/>
                </a:solidFill>
                <a:latin typeface="Segoe UI"/>
              </a:rPr>
              <a:t>Zero references across all ten namespaces</a:t>
            </a:r>
          </a:p>
          <a:p>
            <a:pPr marL="165100" indent="-165100">
              <a:lnSpc>
                <a:spcPct val="112000"/>
              </a:lnSpc>
              <a:spcAft>
                <a:spcPts val="700"/>
              </a:spcAft>
            </a:pPr>
            <a:r>
              <a:rPr sz="1150">
                <a:solidFill>
                  <a:srgbClr val="1C4A78"/>
                </a:solidFill>
                <a:latin typeface="Segoe UI"/>
              </a:rPr>
              <a:t>—  </a:t>
            </a:r>
            <a:r>
              <a:rPr sz="1150" b="0">
                <a:solidFill>
                  <a:srgbClr val="33424F"/>
                </a:solidFill>
                <a:latin typeface="Segoe UI"/>
              </a:rPr>
              <a:t>After deletion: all pods running, no new restarts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2139696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 i="0">
                <a:solidFill>
                  <a:srgbClr val="1C4A78"/>
                </a:solidFill>
                <a:latin typeface="Consolas"/>
              </a:rPr>
              <a:t>ARCHIVED, BOTH SURVIVING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459736"/>
            <a:ext cx="38404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12000"/>
              </a:lnSpc>
              <a:spcAft>
                <a:spcPts val="700"/>
              </a:spcAft>
            </a:pPr>
            <a:r>
              <a:rPr sz="1150">
                <a:solidFill>
                  <a:srgbClr val="1C4A78"/>
                </a:solidFill>
                <a:latin typeface="Segoe UI"/>
              </a:rPr>
              <a:t>—  </a:t>
            </a:r>
            <a:r>
              <a:rPr sz="1150" b="0">
                <a:solidFill>
                  <a:srgbClr val="33424F"/>
                </a:solidFill>
                <a:latin typeface="Segoe UI"/>
              </a:rPr>
              <a:t>Logical dump — 2.17 GB, verified at 2,603 objects</a:t>
            </a:r>
          </a:p>
          <a:p>
            <a:pPr marL="165100" indent="-165100">
              <a:lnSpc>
                <a:spcPct val="112000"/>
              </a:lnSpc>
              <a:spcAft>
                <a:spcPts val="700"/>
              </a:spcAft>
            </a:pPr>
            <a:r>
              <a:rPr sz="1150">
                <a:solidFill>
                  <a:srgbClr val="1C4A78"/>
                </a:solidFill>
                <a:latin typeface="Segoe UI"/>
              </a:rPr>
              <a:t>—  </a:t>
            </a:r>
            <a:r>
              <a:rPr sz="1150" b="0">
                <a:solidFill>
                  <a:srgbClr val="33424F"/>
                </a:solidFill>
                <a:latin typeface="Segoe UI"/>
              </a:rPr>
              <a:t>Manual system backup — 1 GB, 35-day retention</a:t>
            </a:r>
          </a:p>
          <a:p>
            <a:pPr marL="165100" indent="-165100">
              <a:lnSpc>
                <a:spcPct val="112000"/>
              </a:lnSpc>
              <a:spcAft>
                <a:spcPts val="700"/>
              </a:spcAft>
            </a:pPr>
            <a:r>
              <a:rPr sz="1150">
                <a:solidFill>
                  <a:srgbClr val="1C4A78"/>
                </a:solidFill>
                <a:latin typeface="Segoe UI"/>
              </a:rPr>
              <a:t>—  </a:t>
            </a:r>
            <a:r>
              <a:rPr sz="1150" b="0">
                <a:solidFill>
                  <a:srgbClr val="33424F"/>
                </a:solidFill>
                <a:latin typeface="Segoe UI"/>
              </a:rPr>
              <a:t>Side-fix: three read-only helper scripts had been returning stale production data since 3 August; all repointed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2032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i="0">
                <a:solidFill>
                  <a:srgbClr val="12314F"/>
                </a:solidFill>
                <a:latin typeface="Segoe UI"/>
              </a:rPr>
              <a:t>PLUGINLIVE</a:t>
            </a:r>
            <a:r>
              <a:rPr sz="1050" b="0" i="0">
                <a:solidFill>
                  <a:srgbClr val="5F7183"/>
                </a:solidFill>
                <a:latin typeface="Segoe UI"/>
              </a:rPr>
              <a:t>     Infrastructure cost optimisation — summary of all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1C4A78"/>
                </a:solidFill>
                <a:latin typeface="Consolas"/>
              </a:rPr>
              <a:t>SECTION 5 · RE-SHAPE ON ORACLE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16736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0F2233"/>
                </a:solidFill>
                <a:latin typeface="Segoe UI Semibold"/>
              </a:rPr>
              <a:t>Plan A — what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8366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33424F"/>
                </a:solidFill>
                <a:latin typeface="Segoe UI"/>
              </a:rPr>
              <a:t>Everything stays on OCI, in Mumbai. The saving comes from matching capacity to measured load, and switching capacity off when it is genuinely not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Segoe UI"/>
              </a:rPr>
              <a:t>Internal — Confidential · Version 4.0 · 25 August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Segoe U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871216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 i="0">
                <a:solidFill>
                  <a:srgbClr val="1C4A78"/>
                </a:solidFill>
                <a:latin typeface="Consolas"/>
              </a:rPr>
              <a:t>TARGET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00400"/>
            <a:ext cx="56692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12000"/>
              </a:lnSpc>
              <a:spcAft>
                <a:spcPts val="700"/>
              </a:spcAft>
            </a:pPr>
            <a:r>
              <a:rPr sz="1250">
                <a:solidFill>
                  <a:srgbClr val="1C4A78"/>
                </a:solidFill>
                <a:latin typeface="Segoe UI"/>
              </a:rPr>
              <a:t>—  </a:t>
            </a:r>
            <a:r>
              <a:rPr sz="1250" b="1">
                <a:solidFill>
                  <a:srgbClr val="0F2233"/>
                </a:solidFill>
                <a:latin typeface="Segoe UI"/>
              </a:rPr>
              <a:t>Production — </a:t>
            </a:r>
            <a:r>
              <a:rPr sz="1250" b="0">
                <a:solidFill>
                  <a:srgbClr val="33424F"/>
                </a:solidFill>
                <a:latin typeface="Segoe UI"/>
              </a:rPr>
              <a:t>OKE Basic (free control plane), two A1 4/24 baseline nodes, one preemptible calendar burst node, self-managed PostgreSQL 16 with PgBouncer</a:t>
            </a:r>
          </a:p>
          <a:p>
            <a:pPr marL="165100" indent="-165100">
              <a:lnSpc>
                <a:spcPct val="112000"/>
              </a:lnSpc>
              <a:spcAft>
                <a:spcPts val="700"/>
              </a:spcAft>
            </a:pPr>
            <a:r>
              <a:rPr sz="1250">
                <a:solidFill>
                  <a:srgbClr val="1C4A78"/>
                </a:solidFill>
                <a:latin typeface="Segoe UI"/>
              </a:rPr>
              <a:t>—  </a:t>
            </a:r>
            <a:r>
              <a:rPr sz="1250" b="1">
                <a:solidFill>
                  <a:srgbClr val="0F2233"/>
                </a:solidFill>
                <a:latin typeface="Segoe UI"/>
              </a:rPr>
              <a:t>Frontends — </a:t>
            </a:r>
            <a:r>
              <a:rPr sz="1250" b="0">
                <a:solidFill>
                  <a:srgbClr val="33424F"/>
                </a:solidFill>
                <a:latin typeface="Segoe UI"/>
              </a:rPr>
              <a:t>Object Storage behind the existing load balancer</a:t>
            </a:r>
          </a:p>
          <a:p>
            <a:pPr marL="165100" indent="-165100">
              <a:lnSpc>
                <a:spcPct val="112000"/>
              </a:lnSpc>
              <a:spcAft>
                <a:spcPts val="700"/>
              </a:spcAft>
            </a:pPr>
            <a:r>
              <a:rPr sz="1250">
                <a:solidFill>
                  <a:srgbClr val="1C4A78"/>
                </a:solidFill>
                <a:latin typeface="Segoe UI"/>
              </a:rPr>
              <a:t>—  </a:t>
            </a:r>
            <a:r>
              <a:rPr sz="1250" b="1">
                <a:solidFill>
                  <a:srgbClr val="0F2233"/>
                </a:solidFill>
                <a:latin typeface="Segoe UI"/>
              </a:rPr>
              <a:t>DEV and UAT — </a:t>
            </a:r>
            <a:r>
              <a:rPr sz="1250" b="0">
                <a:solidFill>
                  <a:srgbClr val="33424F"/>
                </a:solidFill>
                <a:latin typeface="Segoe UI"/>
              </a:rPr>
              <a:t>one VM each, database merged in, scheduled off nights and weekends</a:t>
            </a:r>
          </a:p>
          <a:p>
            <a:pPr marL="165100" indent="-165100">
              <a:lnSpc>
                <a:spcPct val="112000"/>
              </a:lnSpc>
              <a:spcAft>
                <a:spcPts val="700"/>
              </a:spcAft>
            </a:pPr>
            <a:r>
              <a:rPr sz="1250">
                <a:solidFill>
                  <a:srgbClr val="1C4A78"/>
                </a:solidFill>
                <a:latin typeface="Segoe UI"/>
              </a:rPr>
              <a:t>—  </a:t>
            </a:r>
            <a:r>
              <a:rPr sz="1250" b="1">
                <a:solidFill>
                  <a:srgbClr val="0F2233"/>
                </a:solidFill>
                <a:latin typeface="Segoe UI"/>
              </a:rPr>
              <a:t>Batch — </a:t>
            </a:r>
            <a:r>
              <a:rPr sz="1250" b="0">
                <a:solidFill>
                  <a:srgbClr val="33424F"/>
                </a:solidFill>
                <a:latin typeface="Segoe UI"/>
              </a:rPr>
              <a:t>parsers and normalisation on Container Instances, billed per second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28712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 i="0">
                <a:solidFill>
                  <a:srgbClr val="1C4A78"/>
                </a:solidFill>
                <a:latin typeface="Consolas"/>
              </a:rPr>
              <a:t>THREE RULES BAKED INTO THE DESIGN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93408" y="3200400"/>
            <a:ext cx="5486400" cy="914400"/>
          </a:xfrm>
          <a:prstGeom prst="rect">
            <a:avLst/>
          </a:prstGeom>
          <a:solidFill>
            <a:srgbClr val="F4F7F9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33192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1C4A78"/>
                </a:solidFill>
                <a:latin typeface="Consolas"/>
              </a:rPr>
              <a:t>RULE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6368" y="330098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0F2233"/>
                </a:solidFill>
                <a:latin typeface="Segoe UI"/>
              </a:rPr>
              <a:t>The exam path never sleeps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602736"/>
            <a:ext cx="5166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33424F"/>
                </a:solidFill>
                <a:latin typeface="Segoe UI"/>
              </a:rPr>
              <a:t>auth-node, student-node and fast-api stay warm during exam hours — 3.3 s cold against 8 ms warm is why.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93408" y="4224528"/>
            <a:ext cx="5486400" cy="914400"/>
          </a:xfrm>
          <a:prstGeom prst="rect">
            <a:avLst/>
          </a:prstGeom>
          <a:solidFill>
            <a:srgbClr val="F4F7F9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4343400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1C4A78"/>
                </a:solidFill>
                <a:latin typeface="Consolas"/>
              </a:rPr>
              <a:t>RULE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8" y="4325112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0F2233"/>
                </a:solidFill>
                <a:latin typeface="Segoe UI"/>
              </a:rPr>
              <a:t>App and database stay together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626864"/>
            <a:ext cx="5166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33424F"/>
                </a:solidFill>
                <a:latin typeface="Segoe UI"/>
              </a:rPr>
              <a:t>Documented N+1 patterns turn a 2 ms hop into 100 ms+ per page.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93408" y="5248656"/>
            <a:ext cx="5486400" cy="914400"/>
          </a:xfrm>
          <a:prstGeom prst="rect">
            <a:avLst/>
          </a:prstGeom>
          <a:solidFill>
            <a:srgbClr val="F4F7F9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5367528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1C4A78"/>
                </a:solidFill>
                <a:latin typeface="Consolas"/>
              </a:rPr>
              <a:t>RULE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8" y="534924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0F2233"/>
                </a:solidFill>
                <a:latin typeface="Segoe UI"/>
              </a:rPr>
              <a:t>Capacity leads demand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650992"/>
            <a:ext cx="5166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33424F"/>
                </a:solidFill>
                <a:latin typeface="Segoe UI"/>
              </a:rPr>
              <a:t>Scale from the assessment schedule 20 minutes ahead, not from CPU metrics after the fact. Zero cold start.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2032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i="0">
                <a:solidFill>
                  <a:srgbClr val="12314F"/>
                </a:solidFill>
                <a:latin typeface="Segoe UI"/>
              </a:rPr>
              <a:t>PLUGINLIVE</a:t>
            </a:r>
            <a:r>
              <a:rPr sz="1050" b="0" i="0">
                <a:solidFill>
                  <a:srgbClr val="5F7183"/>
                </a:solidFill>
                <a:latin typeface="Segoe UI"/>
              </a:rPr>
              <a:t>     Infrastructure cost optimisation — summary of all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1C4A78"/>
                </a:solidFill>
                <a:latin typeface="Consolas"/>
              </a:rPr>
              <a:t>SECTION 5 · DELIVERY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16736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0F2233"/>
                </a:solidFill>
                <a:latin typeface="Segoe UI Semibold"/>
              </a:rPr>
              <a:t>Plan A — seven weeks, ₹84,800 → ₹21,000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Segoe UI"/>
              </a:rPr>
              <a:t>Internal — Confidential · Version 4.0 · 25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Segoe UI"/>
              </a:rP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249424"/>
          <a:ext cx="11057838" cy="34838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16362"/>
                <a:gridCol w="6081811"/>
                <a:gridCol w="1769254"/>
                <a:gridCol w="1990411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WHEN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WORK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SAVING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RUN-RATE AFTER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Week 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Raise pg16 backup retention 1 → 30 days. Resource Scheduler on DEV, UAT and the builder: off 20:00, on 08:00, weekdays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5653F"/>
                          </a:solidFill>
                          <a:latin typeface="Consolas"/>
                        </a:rPr>
                        <a:t>₹8,488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₹76,300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Week 1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Merge DEV and UAT database VMs into their app hosts · registry retention · block volumes VPU 10 → 0 · 7-day baseline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5653F"/>
                          </a:solidFill>
                          <a:latin typeface="Consolas"/>
                        </a:rPr>
                        <a:t>₹10,300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₹66,000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Weeks 2–3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Right-size pod requests to p95 + 20% · PodDisruptionBudgets · KEDA in report-only mode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F7183"/>
                          </a:solidFill>
                          <a:latin typeface="Consolas"/>
                        </a:rPr>
                        <a:t>enabler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₹66,000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Week 4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New OKE Basic cluster, 2-node pool on 50 GB boots · drain, DNS switch · static sites to Object Storage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5653F"/>
                          </a:solidFill>
                          <a:latin typeface="Consolas"/>
                        </a:rPr>
                        <a:t>₹21,500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₹44,500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Weeks 5–6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PgBouncer (213 → ~20 connections) · self-managed PG16 · timed restore test · cutover · 7-day soak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5653F"/>
                          </a:solidFill>
                          <a:latin typeface="Consolas"/>
                        </a:rPr>
                        <a:t>₹17,449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₹27,000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Week 7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Calendar scaler — burst node warm 20 min before each window · KEDA scale-to-zero on idle workers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5653F"/>
                          </a:solidFill>
                          <a:latin typeface="Consolas"/>
                        </a:rPr>
                        <a:t>₹3–6,000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≈ ₹21,000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96188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0F2233"/>
                </a:solidFill>
                <a:latin typeface="Segoe UI"/>
              </a:rPr>
              <a:t>Weeks 0 and 1 are unconditional — </a:t>
            </a:r>
            <a:r>
              <a:rPr sz="1250" b="0" i="0">
                <a:solidFill>
                  <a:srgbClr val="33424F"/>
                </a:solidFill>
                <a:latin typeface="Segoe UI"/>
              </a:rPr>
              <a:t>they apply whichever option is chosen, and none of them touches the production data path.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2032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i="0">
                <a:solidFill>
                  <a:srgbClr val="12314F"/>
                </a:solidFill>
                <a:latin typeface="Segoe UI"/>
              </a:rPr>
              <a:t>PLUGINLIVE</a:t>
            </a:r>
            <a:r>
              <a:rPr sz="1050" b="0" i="0">
                <a:solidFill>
                  <a:srgbClr val="5F7183"/>
                </a:solidFill>
                <a:latin typeface="Segoe UI"/>
              </a:rPr>
              <a:t>     Infrastructure cost optimisation — summary of all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1C4A78"/>
                </a:solidFill>
                <a:latin typeface="Consolas"/>
              </a:rPr>
              <a:t>SECTION 5.5 · COST BUILD-UP AND ENVIRONMENTS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16736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0F2233"/>
                </a:solidFill>
                <a:latin typeface="Segoe UI Semibold"/>
              </a:rPr>
              <a:t>Plan A — where the ₹21,000 goes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Segoe UI"/>
              </a:rPr>
              <a:t>Internal — Confidential · Version 4.0 · 25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Segoe UI"/>
              </a:rPr>
              <a:t>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249424"/>
          <a:ext cx="6400800" cy="30586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60320"/>
                <a:gridCol w="2560320"/>
                <a:gridCol w="1280160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COMPONENT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SHAPE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₹ / MONTH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Baseline OKE nodes (2)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A1 4 OCPU / 24 GB each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8,842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Calendar burst node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preemptible, ~40 h/month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200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Self-managed PostgreSQL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A1 4/24 plus 100 GB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4,421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DEV + UAT + builder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3 VMs, scheduled 36% of hours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4,774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OKE Basic control plane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Frontends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Object Storage + existing LB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Block storage + performance units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~950 GB, VPU 0 except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2,620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Images, storage, email, DNS, checks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1,083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Plan A total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±5%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F2233"/>
                          </a:solidFill>
                          <a:latin typeface="Consolas"/>
                        </a:rPr>
                        <a:t>≈ 21,940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287768" y="2249424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 i="0">
                <a:solidFill>
                  <a:srgbClr val="1C4A78"/>
                </a:solidFill>
                <a:latin typeface="Consolas"/>
              </a:rPr>
              <a:t>BY ENVIRONMENT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87768" y="2596896"/>
            <a:ext cx="44805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87768" y="2596896"/>
            <a:ext cx="33020" cy="1051560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0648" y="2706624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12314F"/>
                </a:solidFill>
                <a:latin typeface="Segoe UI Semibold"/>
              </a:rPr>
              <a:t>DEV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8" y="2724912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15653F"/>
                </a:solidFill>
                <a:latin typeface="Consolas"/>
              </a:rPr>
              <a:t>₹6,631 → ≈₹2,200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0648" y="300837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33424F"/>
                </a:solidFill>
                <a:latin typeface="Segoe UI"/>
              </a:rPr>
              <a:t>Merge the database VM into the app host; schedule off nights and weekends with a one-click override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87768" y="3767328"/>
            <a:ext cx="44805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87768" y="3767328"/>
            <a:ext cx="33020" cy="1051560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0648" y="387705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12314F"/>
                </a:solidFill>
                <a:latin typeface="Segoe UI Semibold"/>
              </a:rPr>
              <a:t>UAT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3895344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15653F"/>
                </a:solidFill>
                <a:latin typeface="Consolas"/>
              </a:rPr>
              <a:t>₹7,673 → ≈₹2,500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0648" y="417880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33424F"/>
                </a:solidFill>
                <a:latin typeface="Segoe UI"/>
              </a:rPr>
              <a:t>Same consolidation and schedule, with an override for planned test windows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87768" y="4937760"/>
            <a:ext cx="44805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87768" y="4937760"/>
            <a:ext cx="33020" cy="1051560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504748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12314F"/>
                </a:solidFill>
                <a:latin typeface="Segoe UI Semibold"/>
              </a:rPr>
              <a:t>PROD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2208" y="5065776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15653F"/>
                </a:solidFill>
                <a:latin typeface="Consolas"/>
              </a:rPr>
              <a:t>₹70,500 → ≈₹16,300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0648" y="534924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33424F"/>
                </a:solidFill>
                <a:latin typeface="Segoe UI"/>
              </a:rPr>
              <a:t>Right-size requests → OKE Basic with 2 nodes + burst → static sites to Object Storage → self-managed PG16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2032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i="0">
                <a:solidFill>
                  <a:srgbClr val="12314F"/>
                </a:solidFill>
                <a:latin typeface="Segoe UI"/>
              </a:rPr>
              <a:t>PLUGINLIVE</a:t>
            </a:r>
            <a:r>
              <a:rPr sz="1050" b="0" i="0">
                <a:solidFill>
                  <a:srgbClr val="5F7183"/>
                </a:solidFill>
                <a:latin typeface="Segoe UI"/>
              </a:rPr>
              <a:t>     Infrastructure cost optimisation — summary of all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1C4A78"/>
                </a:solidFill>
                <a:latin typeface="Consolas"/>
              </a:rPr>
              <a:t>SECTION 5.3 · INSTRUMENTATION PREREQUISITES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16736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0F2233"/>
                </a:solidFill>
                <a:latin typeface="Segoe UI Semibold"/>
              </a:rPr>
              <a:t>Four gaps gate the schedule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8366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33424F"/>
                </a:solidFill>
                <a:latin typeface="Segoe UI"/>
              </a:rPr>
              <a:t>Verified on the live cluster, 27 August. Prometheus, kube-state-metrics, node-exporter, Grafana, Loki, Promtail and metrics-server are already deployed in production — no new monitoring platform is needed. Four gaps remain, together costing ₹100–200 per month.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Segoe UI"/>
              </a:rPr>
              <a:t>Internal — Confidential · Version 4.0 · 25 August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Segoe UI"/>
              </a:rPr>
              <a:t>10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3108960"/>
          <a:ext cx="11057836" cy="25694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32724"/>
                <a:gridCol w="1769254"/>
                <a:gridCol w="1105783"/>
                <a:gridCol w="4644292"/>
                <a:gridCol w="1105783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PREREQUISITE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CURRENT STATE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GATES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WHY IT IS REQUIRED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COST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233"/>
                          </a:solidFill>
                          <a:latin typeface="Segoe UI"/>
                        </a:rPr>
                        <a:t>Alertmanager in production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A4262C"/>
                          </a:solidFill>
                          <a:latin typeface="Segoe UI"/>
                        </a:rPr>
                        <a:t>Absent — UAT has it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F2233"/>
                          </a:solidFill>
                          <a:latin typeface="Consolas"/>
                        </a:rPr>
                        <a:t>Week 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424F"/>
                          </a:solidFill>
                          <a:latin typeface="Segoe UI"/>
                        </a:rPr>
                        <a:t>Production drops from five worker nodes to two plus a burst node. Less headroom demands alerting, not less of it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F2233"/>
                          </a:solidFill>
                          <a:latin typeface="Consolas"/>
                        </a:rPr>
                        <a:t>≈ ₹0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233"/>
                          </a:solidFill>
                          <a:latin typeface="Segoe UI"/>
                        </a:rPr>
                        <a:t>Prometheus retention 7 → 30 days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A4262C"/>
                          </a:solidFill>
                          <a:latin typeface="Segoe UI"/>
                        </a:rPr>
                        <a:t>7 days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F2233"/>
                          </a:solidFill>
                          <a:latin typeface="Consolas"/>
                        </a:rPr>
                        <a:t>Week 2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424F"/>
                          </a:solidFill>
                          <a:latin typeface="Segoe UI"/>
                        </a:rPr>
                        <a:t>Week 1 captures a 7-day baseline and weeks 2–3 right-size to p95 + 20%; at 7 days the evidence expires first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F2233"/>
                          </a:solidFill>
                          <a:latin typeface="Consolas"/>
                        </a:rPr>
                        <a:t>≈ ₹70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233"/>
                          </a:solidFill>
                          <a:latin typeface="Segoe UI"/>
                        </a:rPr>
                        <a:t>PodDisruptionBudgets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A4262C"/>
                          </a:solidFill>
                          <a:latin typeface="Segoe UI"/>
                        </a:rPr>
                        <a:t>None defined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F2233"/>
                          </a:solidFill>
                          <a:latin typeface="Consolas"/>
                        </a:rPr>
                        <a:t>Week 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424F"/>
                          </a:solidFill>
                          <a:latin typeface="Segoe UI"/>
                        </a:rPr>
                        <a:t>Week 4 drains nodes one at a time; without a budget a drain can remove the last replica of a customer-facing API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F2233"/>
                          </a:solidFill>
                          <a:latin typeface="Consolas"/>
                        </a:rPr>
                        <a:t>₹0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233"/>
                          </a:solidFill>
                          <a:latin typeface="Segoe UI"/>
                        </a:rPr>
                        <a:t>postgres_exporter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A4262C"/>
                          </a:solidFill>
                          <a:latin typeface="Segoe UI"/>
                        </a:rPr>
                        <a:t>Absent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F2233"/>
                          </a:solidFill>
                          <a:latin typeface="Consolas"/>
                        </a:rPr>
                        <a:t>Weeks 5–6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424F"/>
                          </a:solidFill>
                          <a:latin typeface="Segoe UI"/>
                        </a:rPr>
                        <a:t>D-1 transfers backups and recovery to the team; connections, replication lag and WAL success must be visible first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F2233"/>
                          </a:solidFill>
                          <a:latin typeface="Consolas"/>
                        </a:rPr>
                        <a:t>≈ ₹0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" y="581558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0F2233"/>
                </a:solidFill>
                <a:latin typeface="Segoe UI"/>
              </a:rPr>
              <a:t>Not required: </a:t>
            </a:r>
            <a:r>
              <a:rPr sz="1200" b="0" i="0">
                <a:solidFill>
                  <a:srgbClr val="33424F"/>
                </a:solidFill>
                <a:latin typeface="Segoe UI"/>
              </a:rPr>
              <a:t>Grafana Alloy replaces a working Promtail and changes no cost line. OpenLens and Headlamp duplicate Grafana and kubectl. Terraform is worth capturing at the week-4 rebuild, not as a mid-migration import.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2032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i="0">
                <a:solidFill>
                  <a:srgbClr val="12314F"/>
                </a:solidFill>
                <a:latin typeface="Segoe UI"/>
              </a:rPr>
              <a:t>PLUGINLIVE</a:t>
            </a:r>
            <a:r>
              <a:rPr sz="1050" b="0" i="0">
                <a:solidFill>
                  <a:srgbClr val="5F7183"/>
                </a:solidFill>
                <a:latin typeface="Segoe UI"/>
              </a:rPr>
              <a:t>     Infrastructure cost optimisation — summary of all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1C4A78"/>
                </a:solidFill>
                <a:latin typeface="Consolas"/>
              </a:rPr>
              <a:t>SECTION 7 · ALTERNATIVE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16736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0F2233"/>
                </a:solidFill>
                <a:latin typeface="Segoe UI Semibold"/>
              </a:rPr>
              <a:t>Plan B — Google Cloud Run, Mumbai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8366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33424F"/>
                </a:solidFill>
                <a:latin typeface="Segoe UI"/>
              </a:rPr>
              <a:t>Request-driven containers, a managed database, no cluster to operate. The price depends entirely on whether the queue engine is also rewritten.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Segoe UI"/>
              </a:rPr>
              <a:t>Internal — Confidential · Version 4.0 · 25 August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Segoe UI"/>
              </a:rPr>
              <a:t>11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2871216"/>
          <a:ext cx="5852159" cy="27523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330598"/>
                <a:gridCol w="1521561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B1 — LIFT AND SHIFT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₹ / MONTH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Always-warm tier — auth, student, fast-api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24,600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Queue workers held always-on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11,500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Scale-to-zero tier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700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Cloud SQL PostgreSQL — 2 vCPU / 8 GB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10,000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Memorystore Redis — 1 GB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2,000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Storage, registry, LB, egress, logging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4,000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DEV + UAT — true scale-to-zero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2,000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B1 total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F2233"/>
                          </a:solidFill>
                          <a:latin typeface="Consolas"/>
                        </a:rPr>
                        <a:t>≈ 44,000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739128" y="2871216"/>
          <a:ext cx="4892039" cy="18379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20109"/>
                <a:gridCol w="1271930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B2 — AFTER THE QUEUE REWRITE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₹ / MONTH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Workers become request-driven via Pub/Sub push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5653F"/>
                          </a:solidFill>
                          <a:latin typeface="Consolas"/>
                        </a:rPr>
                        <a:t>−11,500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fast-api warm only in scheduled windows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5653F"/>
                          </a:solidFill>
                          <a:latin typeface="Consolas"/>
                        </a:rPr>
                        <a:t>−6,600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All other lines unchanged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B2 total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F2233"/>
                          </a:solidFill>
                          <a:latin typeface="Consolas"/>
                        </a:rPr>
                        <a:t>≈ 26,000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739128" y="4718304"/>
            <a:ext cx="4892040" cy="1481328"/>
          </a:xfrm>
          <a:prstGeom prst="rect">
            <a:avLst/>
          </a:prstGeom>
          <a:solidFill>
            <a:srgbClr val="F4F7F9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39128" y="4718304"/>
            <a:ext cx="40640" cy="1481328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0296" y="4882896"/>
            <a:ext cx="4480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0F2233"/>
                </a:solidFill>
                <a:latin typeface="Segoe UI"/>
              </a:rPr>
              <a:t>The blocker that sets the price: BullMQ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33424F"/>
                </a:solidFill>
                <a:latin typeface="Segoe UI"/>
              </a:rPr>
              <a:t>Cloud Run bills a container only while it handles a request. A worker blocking on Redis is not handling one, so it needs CPU always allocated — a virtual machine at roughly twelve times the price. Escaping it means re-deriving retry, back-off and delayed-job semantics.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60720"/>
            <a:ext cx="5852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 i="0">
                <a:solidFill>
                  <a:srgbClr val="0F2233"/>
                </a:solidFill>
                <a:latin typeface="Segoe UI"/>
              </a:rPr>
              <a:t>Migration: 10 to 14 weeks. </a:t>
            </a:r>
            <a:r>
              <a:rPr sz="1150" b="0" i="0">
                <a:solidFill>
                  <a:srgbClr val="33424F"/>
                </a:solidFill>
                <a:latin typeface="Segoe UI"/>
              </a:rPr>
              <a:t>The high-risk stages are the data platform — 10 GB by logical replication, 160 GB of media re-signed — and the queue rewrite. Rollback after the data moves is difficult.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2032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i="0">
                <a:solidFill>
                  <a:srgbClr val="12314F"/>
                </a:solidFill>
                <a:latin typeface="Segoe UI"/>
              </a:rPr>
              <a:t>PLUGINLIVE</a:t>
            </a:r>
            <a:r>
              <a:rPr sz="1050" b="0" i="0">
                <a:solidFill>
                  <a:srgbClr val="5F7183"/>
                </a:solidFill>
                <a:latin typeface="Segoe UI"/>
              </a:rPr>
              <a:t>     Infrastructure cost optimisation — summary of all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1C4A78"/>
                </a:solidFill>
                <a:latin typeface="Consolas"/>
              </a:rPr>
              <a:t>SECTION 8 · ALTERNATIVE, SELF-MANAGED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16736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0F2233"/>
                </a:solidFill>
                <a:latin typeface="Segoe UI Semibold"/>
              </a:rPr>
              <a:t>Plan C — Azure Container Apps, Central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8366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33424F"/>
                </a:solidFill>
                <a:latin typeface="Segoe UI"/>
              </a:rPr>
              <a:t>Costed against the live inventory: 20 API deployments, 12 frontends, four queue workers, measured resident memory per service.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Segoe UI"/>
              </a:rPr>
              <a:t>Internal — Confidential · Version 4.0 · 25 August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Segoe UI"/>
              </a:rPr>
              <a:t>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2871216"/>
          <a:ext cx="6309359" cy="30586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795113"/>
                <a:gridCol w="1514246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COMPONENT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₹ / MONTH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Container Apps — always-warm APIs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10,600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Container Apps — queue workers (KEDA to zero)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800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Container Apps — scale-to-zero tier, 12 services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5,500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PostgreSQL host — D2pds_v5, self-managed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5,550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Database storage + backup target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2,130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Redis Basic C1 · frontends · registry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8,550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Log Analytics · media, egress, DNS, Key Vault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3,900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DEV and UAT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4,300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Plan C total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F2233"/>
                          </a:solidFill>
                          <a:latin typeface="Consolas"/>
                        </a:rPr>
                        <a:t>≈ 41,300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196328" y="2871216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 i="0">
                <a:solidFill>
                  <a:srgbClr val="1C4A78"/>
                </a:solidFill>
                <a:latin typeface="Consolas"/>
              </a:rPr>
              <a:t>WHERE IT BEATS CLOUD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96328" y="3200400"/>
            <a:ext cx="44805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12000"/>
              </a:lnSpc>
              <a:spcAft>
                <a:spcPts val="700"/>
              </a:spcAft>
            </a:pPr>
            <a:r>
              <a:rPr sz="1150">
                <a:solidFill>
                  <a:srgbClr val="1C4A78"/>
                </a:solidFill>
                <a:latin typeface="Segoe UI"/>
              </a:rPr>
              <a:t>—  </a:t>
            </a:r>
            <a:r>
              <a:rPr sz="1150" b="1">
                <a:solidFill>
                  <a:srgbClr val="0F2233"/>
                </a:solidFill>
                <a:latin typeface="Segoe UI"/>
              </a:rPr>
              <a:t>Idle billing. </a:t>
            </a:r>
            <a:r>
              <a:rPr sz="1150" b="0">
                <a:solidFill>
                  <a:srgbClr val="33424F"/>
                </a:solidFill>
                <a:latin typeface="Segoe UI"/>
              </a:rPr>
              <a:t>A warm replica bills at roughly one-eighth the active rate; Cloud Run charges full price.</a:t>
            </a:r>
          </a:p>
          <a:p>
            <a:pPr marL="165100" indent="-165100">
              <a:lnSpc>
                <a:spcPct val="112000"/>
              </a:lnSpc>
              <a:spcAft>
                <a:spcPts val="700"/>
              </a:spcAft>
            </a:pPr>
            <a:r>
              <a:rPr sz="1150">
                <a:solidFill>
                  <a:srgbClr val="1C4A78"/>
                </a:solidFill>
                <a:latin typeface="Segoe UI"/>
              </a:rPr>
              <a:t>—  </a:t>
            </a:r>
            <a:r>
              <a:rPr sz="1150" b="1">
                <a:solidFill>
                  <a:srgbClr val="0F2233"/>
                </a:solidFill>
                <a:latin typeface="Segoe UI"/>
              </a:rPr>
              <a:t>KEDA is built in. </a:t>
            </a:r>
            <a:r>
              <a:rPr sz="1150" b="0">
                <a:solidFill>
                  <a:srgbClr val="33424F"/>
                </a:solidFill>
                <a:latin typeface="Segoe UI"/>
              </a:rPr>
              <a:t>BullMQ workers scale to zero with no queue rewrite — B2's saving without B2's risk.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96328" y="440740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 i="0">
                <a:solidFill>
                  <a:srgbClr val="9A4B18"/>
                </a:solidFill>
                <a:latin typeface="Consolas"/>
              </a:rPr>
              <a:t>WHERE IT STILL LOSES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6328" y="4736592"/>
            <a:ext cx="44805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12000"/>
              </a:lnSpc>
              <a:spcAft>
                <a:spcPts val="700"/>
              </a:spcAft>
            </a:pPr>
            <a:r>
              <a:rPr sz="1150">
                <a:solidFill>
                  <a:srgbClr val="9A4B18"/>
                </a:solidFill>
                <a:latin typeface="Segoe UI"/>
              </a:rPr>
              <a:t>—  </a:t>
            </a:r>
            <a:r>
              <a:rPr sz="1150" b="1">
                <a:solidFill>
                  <a:srgbClr val="0F2233"/>
                </a:solidFill>
                <a:latin typeface="Segoe UI"/>
              </a:rPr>
              <a:t>Memory bills flat at ₹690 per GiB</a:t>
            </a:r>
            <a:r>
              <a:rPr sz="1150" b="0">
                <a:solidFill>
                  <a:srgbClr val="33424F"/>
                </a:solidFill>
                <a:latin typeface="Segoe UI"/>
              </a:rPr>
              <a:t> whether idle or active; 44 GiB resident sets a floor near ₹30,000.</a:t>
            </a:r>
          </a:p>
          <a:p>
            <a:pPr marL="165100" indent="-165100">
              <a:lnSpc>
                <a:spcPct val="112000"/>
              </a:lnSpc>
              <a:spcAft>
                <a:spcPts val="700"/>
              </a:spcAft>
            </a:pPr>
            <a:r>
              <a:rPr sz="1150">
                <a:solidFill>
                  <a:srgbClr val="9A4B18"/>
                </a:solidFill>
                <a:latin typeface="Segoe UI"/>
              </a:rPr>
              <a:t>—  </a:t>
            </a:r>
            <a:r>
              <a:rPr sz="1150" b="1">
                <a:solidFill>
                  <a:srgbClr val="0F2233"/>
                </a:solidFill>
                <a:latin typeface="Segoe UI"/>
              </a:rPr>
              <a:t>Self-managing saves only ₹5,300 here</a:t>
            </a:r>
            <a:r>
              <a:rPr sz="1150" b="0">
                <a:solidFill>
                  <a:srgbClr val="33424F"/>
                </a:solidFill>
                <a:latin typeface="Segoe UI"/>
              </a:rPr>
              <a:t> against ₹17,449 under Plan A — and removes the “nothing to operate” benefit.</a:t>
            </a:r>
          </a:p>
          <a:p>
            <a:pPr marL="165100" indent="-165100">
              <a:lnSpc>
                <a:spcPct val="112000"/>
              </a:lnSpc>
              <a:spcAft>
                <a:spcPts val="700"/>
              </a:spcAft>
            </a:pPr>
            <a:r>
              <a:rPr sz="1150">
                <a:solidFill>
                  <a:srgbClr val="9A4B18"/>
                </a:solidFill>
                <a:latin typeface="Segoe UI"/>
              </a:rPr>
              <a:t>—  </a:t>
            </a:r>
            <a:r>
              <a:rPr sz="1150" b="0">
                <a:solidFill>
                  <a:srgbClr val="33424F"/>
                </a:solidFill>
                <a:latin typeface="Segoe UI"/>
              </a:rPr>
              <a:t>Same migration exposure as Plan B; 9–12 weeks; difficult rollback.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053328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 i="0">
                <a:solidFill>
                  <a:srgbClr val="0F2233"/>
                </a:solidFill>
                <a:latin typeface="Segoe UI"/>
              </a:rPr>
              <a:t>Lean variant ≈ ₹27,000 </a:t>
            </a:r>
            <a:r>
              <a:rPr sz="1150" b="0" i="0">
                <a:solidFill>
                  <a:srgbClr val="33424F"/>
                </a:solidFill>
                <a:latin typeface="Segoe UI"/>
              </a:rPr>
              <a:t>with reserved compute, Static Web Apps Free, Redis C0, Basic Logs and cron-warmed fast-api.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2032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i="0">
                <a:solidFill>
                  <a:srgbClr val="12314F"/>
                </a:solidFill>
                <a:latin typeface="Segoe UI"/>
              </a:rPr>
              <a:t>PLUGINLIVE</a:t>
            </a:r>
            <a:r>
              <a:rPr sz="1050" b="0" i="0">
                <a:solidFill>
                  <a:srgbClr val="5F7183"/>
                </a:solidFill>
                <a:latin typeface="Segoe UI"/>
              </a:rPr>
              <a:t>     Infrastructure cost optimisation — summary of all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1C4A78"/>
                </a:solidFill>
                <a:latin typeface="Consolas"/>
              </a:rPr>
              <a:t>SECTION 9.1–9.2 · PLATFORM AND REGION FEASIBILITY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16736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0F2233"/>
                </a:solidFill>
                <a:latin typeface="Segoe UI Semibold"/>
              </a:rPr>
              <a:t>Every other provider screened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Segoe UI"/>
              </a:rPr>
              <a:t>Internal — Confidential · Version 4.0 · 25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Segoe UI"/>
              </a:rPr>
              <a:t>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249424"/>
          <a:ext cx="11057838" cy="3886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69254"/>
                <a:gridCol w="1990411"/>
                <a:gridCol w="7298173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PLATFORM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INDIA REGION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ASSESSMENT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Alibaba Cloud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A4262C"/>
                          </a:solidFill>
                          <a:latin typeface="Segoe UI"/>
                        </a:rPr>
                        <a:t>Withdrawn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India data centre closed in 2022–23. Fails the India requirement outright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Tencent Cloud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Mumbai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Rejected on procurement and sovereignty grounds, not price — student personal data on a Chinese-owned cloud will fail customer security review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IBM Cloud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4B18"/>
                          </a:solidFill>
                          <a:latin typeface="Segoe UI"/>
                        </a:rPr>
                        <a:t>Chennai classic only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No full multi-zone India region for the managed services needed; no Ampere-class pricing; thin local ecosystem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DigitalOcean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Bangalore only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Compute competitive at ~2.5× OCI, but memory near ₹700/GB-month — the memory bill alone would exceed ₹30,000. No in-country failover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Salesforce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n/a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Not an infrastructure provider — SaaS plus Heroku, priced per dyno above Cloud Run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Render · Neon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A4262C"/>
                          </a:solidFill>
                          <a:latin typeface="Segoe UI"/>
                        </a:rPr>
                        <a:t>None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No India region at all; two options from the original proof-of-concept stack fail requirement 1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AWS · Azure · GCP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Mumbai / Central India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All viable on region. Costed as Plans B and C, or rejected on the rate in section 2.1 — between them and OCI sits a 2.5× to 9.3× gap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2032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i="0">
                <a:solidFill>
                  <a:srgbClr val="12314F"/>
                </a:solidFill>
                <a:latin typeface="Segoe UI"/>
              </a:rPr>
              <a:t>PLUGINLIVE</a:t>
            </a:r>
            <a:r>
              <a:rPr sz="1050" b="0" i="0">
                <a:solidFill>
                  <a:srgbClr val="5F7183"/>
                </a:solidFill>
                <a:latin typeface="Segoe UI"/>
              </a:rPr>
              <a:t>     Infrastructure cost optimisation — summary of all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1C4A78"/>
                </a:solidFill>
                <a:latin typeface="Consolas"/>
              </a:rPr>
              <a:t>SECTION 9.3 · DATA-STORE FEASIBILITY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16736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0F2233"/>
                </a:solidFill>
                <a:latin typeface="Segoe UI Semibold"/>
              </a:rPr>
              <a:t>Vector databases cannot replace 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8366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33424F"/>
                </a:solidFill>
                <a:latin typeface="Segoe UI"/>
              </a:rPr>
              <a:t>Measured in production on 27 August: about 104,000 embeddings in 1.7 GB, inside an 11 GB database that is otherwise students, assessments, assignments and scores.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Segoe UI"/>
              </a:rPr>
              <a:t>Internal — Confidential · Version 4.0 · 25 August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Segoe UI"/>
              </a:rPr>
              <a:t>14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2980944"/>
          <a:ext cx="5120639" cy="24460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65145"/>
                <a:gridCol w="1177747"/>
                <a:gridCol w="1177747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TABLE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SIZE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ROWS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233"/>
                          </a:solidFill>
                          <a:latin typeface="Segoe UI"/>
                        </a:rPr>
                        <a:t>institute.institutes_campuses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F2233"/>
                          </a:solidFill>
                          <a:latin typeface="Consolas"/>
                        </a:rPr>
                        <a:t>1,380 MB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F2233"/>
                          </a:solidFill>
                          <a:latin typeface="Consolas"/>
                        </a:rPr>
                        <a:t>86,903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233"/>
                          </a:solidFill>
                          <a:latin typeface="Segoe UI"/>
                        </a:rPr>
                        <a:t>admin.mongo_db_cities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F2233"/>
                          </a:solidFill>
                          <a:latin typeface="Consolas"/>
                        </a:rPr>
                        <a:t>91 MB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F2233"/>
                          </a:solidFill>
                          <a:latin typeface="Consolas"/>
                        </a:rPr>
                        <a:t>5,736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233"/>
                          </a:solidFill>
                          <a:latin typeface="Segoe UI"/>
                        </a:rPr>
                        <a:t>institute.degrees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F2233"/>
                          </a:solidFill>
                          <a:latin typeface="Consolas"/>
                        </a:rPr>
                        <a:t>70 MB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F2233"/>
                          </a:solidFill>
                          <a:latin typeface="Consolas"/>
                        </a:rPr>
                        <a:t>4,454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233"/>
                          </a:solidFill>
                          <a:latin typeface="Segoe UI"/>
                        </a:rPr>
                        <a:t>corporate.job_roles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F2233"/>
                          </a:solidFill>
                          <a:latin typeface="Consolas"/>
                        </a:rPr>
                        <a:t>69 MB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F2233"/>
                          </a:solidFill>
                          <a:latin typeface="Consolas"/>
                        </a:rPr>
                        <a:t>2,359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233"/>
                          </a:solidFill>
                          <a:latin typeface="Segoe UI"/>
                        </a:rPr>
                        <a:t>institute.streams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F2233"/>
                          </a:solidFill>
                          <a:latin typeface="Consolas"/>
                        </a:rPr>
                        <a:t>64 MB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F2233"/>
                          </a:solidFill>
                          <a:latin typeface="Consolas"/>
                        </a:rPr>
                        <a:t>4,078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233"/>
                          </a:solidFill>
                          <a:latin typeface="Segoe UI"/>
                        </a:rPr>
                        <a:t>Three smaller tables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F2233"/>
                          </a:solidFill>
                          <a:latin typeface="Consolas"/>
                        </a:rPr>
                        <a:t>≈ 5 MB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F2233"/>
                          </a:solidFill>
                          <a:latin typeface="Consolas"/>
                        </a:rPr>
                        <a:t>≈ 300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233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F2233"/>
                          </a:solidFill>
                          <a:latin typeface="Consolas"/>
                        </a:rPr>
                        <a:t>≈ 1.7 GB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F2233"/>
                          </a:solidFill>
                          <a:latin typeface="Consolas"/>
                        </a:rPr>
                        <a:t>≈ 104,000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07608" y="2980944"/>
            <a:ext cx="56692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12000"/>
              </a:lnSpc>
              <a:spcAft>
                <a:spcPts val="700"/>
              </a:spcAft>
            </a:pPr>
            <a:r>
              <a:rPr sz="1150">
                <a:solidFill>
                  <a:srgbClr val="1C4A78"/>
                </a:solidFill>
                <a:latin typeface="Segoe UI"/>
              </a:rPr>
              <a:t>—  </a:t>
            </a:r>
            <a:r>
              <a:rPr sz="1150" b="1">
                <a:solidFill>
                  <a:srgbClr val="0F2233"/>
                </a:solidFill>
                <a:latin typeface="Segoe UI"/>
              </a:rPr>
              <a:t>No joins, no foreign keys, no transactions. </a:t>
            </a:r>
            <a:r>
              <a:rPr sz="1150" b="0">
                <a:solidFill>
                  <a:srgbClr val="33424F"/>
                </a:solidFill>
                <a:latin typeface="Segoe UI"/>
              </a:rPr>
              <a:t>They are similarity engines over embeddings — an additional store, never a substitute for the system of record.</a:t>
            </a:r>
          </a:p>
          <a:p>
            <a:pPr marL="165100" indent="-165100">
              <a:lnSpc>
                <a:spcPct val="112000"/>
              </a:lnSpc>
              <a:spcAft>
                <a:spcPts val="700"/>
              </a:spcAft>
            </a:pPr>
            <a:r>
              <a:rPr sz="1150">
                <a:solidFill>
                  <a:srgbClr val="1C4A78"/>
                </a:solidFill>
                <a:latin typeface="Segoe UI"/>
              </a:rPr>
              <a:t>—  </a:t>
            </a:r>
            <a:r>
              <a:rPr sz="1150" b="1">
                <a:solidFill>
                  <a:srgbClr val="0F2233"/>
                </a:solidFill>
                <a:latin typeface="Segoe UI"/>
              </a:rPr>
              <a:t>Cost. </a:t>
            </a:r>
            <a:r>
              <a:rPr sz="1150" b="0">
                <a:solidFill>
                  <a:srgbClr val="33424F"/>
                </a:solidFill>
                <a:latin typeface="Segoe UI"/>
              </a:rPr>
              <a:t>pgvector on the existing database costs nothing. Pinecone, Qdrant and Weaviate each start near ₹2,200–4,400 per month — 10–20% of the entire Plan A target — to serve 104,000 vectors.</a:t>
            </a:r>
          </a:p>
          <a:p>
            <a:pPr marL="165100" indent="-165100">
              <a:lnSpc>
                <a:spcPct val="112000"/>
              </a:lnSpc>
              <a:spcAft>
                <a:spcPts val="700"/>
              </a:spcAft>
            </a:pPr>
            <a:r>
              <a:rPr sz="1150">
                <a:solidFill>
                  <a:srgbClr val="1C4A78"/>
                </a:solidFill>
                <a:latin typeface="Segoe UI"/>
              </a:rPr>
              <a:t>—  </a:t>
            </a:r>
            <a:r>
              <a:rPr sz="1150" b="1">
                <a:solidFill>
                  <a:srgbClr val="0F2233"/>
                </a:solidFill>
                <a:latin typeface="Segoe UI"/>
              </a:rPr>
              <a:t>Region. </a:t>
            </a:r>
            <a:r>
              <a:rPr sz="1150" b="0">
                <a:solidFill>
                  <a:srgbClr val="33424F"/>
                </a:solidFill>
                <a:latin typeface="Segoe UI"/>
              </a:rPr>
              <a:t>Pinecone serverless has no India region, which fails requirement 1 outright.</a:t>
            </a:r>
          </a:p>
          <a:p>
            <a:pPr marL="165100" indent="-165100">
              <a:lnSpc>
                <a:spcPct val="112000"/>
              </a:lnSpc>
              <a:spcAft>
                <a:spcPts val="700"/>
              </a:spcAft>
            </a:pPr>
            <a:r>
              <a:rPr sz="1150">
                <a:solidFill>
                  <a:srgbClr val="1C4A78"/>
                </a:solidFill>
                <a:latin typeface="Segoe UI"/>
              </a:rPr>
              <a:t>—  </a:t>
            </a:r>
            <a:r>
              <a:rPr sz="1150" b="1">
                <a:solidFill>
                  <a:srgbClr val="0F2233"/>
                </a:solidFill>
                <a:latin typeface="Segoe UI"/>
              </a:rPr>
              <a:t>Correctness. </a:t>
            </a:r>
            <a:r>
              <a:rPr sz="1150" b="0">
                <a:solidFill>
                  <a:srgbClr val="33424F"/>
                </a:solidFill>
                <a:latin typeface="Segoe UI"/>
              </a:rPr>
              <a:t>Ranking is hybrid — taxonomy gate, trigram and vector fused in one query. Splitting the vectors out removes the family gate that fixed “nurse resembles accountant”.</a:t>
            </a:r>
          </a:p>
          <a:p>
            <a:pPr marL="165100" indent="-165100">
              <a:lnSpc>
                <a:spcPct val="112000"/>
              </a:lnSpc>
              <a:spcAft>
                <a:spcPts val="700"/>
              </a:spcAft>
            </a:pPr>
            <a:r>
              <a:rPr sz="1150">
                <a:solidFill>
                  <a:srgbClr val="1C4A78"/>
                </a:solidFill>
                <a:latin typeface="Segoe UI"/>
              </a:rPr>
              <a:t>—  </a:t>
            </a:r>
            <a:r>
              <a:rPr sz="1150" b="1">
                <a:solidFill>
                  <a:srgbClr val="0F2233"/>
                </a:solidFill>
                <a:latin typeface="Segoe UI"/>
              </a:rPr>
              <a:t>Direction of travel. </a:t>
            </a:r>
            <a:r>
              <a:rPr sz="1150" b="0">
                <a:solidFill>
                  <a:srgbClr val="33424F"/>
                </a:solidFill>
                <a:latin typeface="Segoe UI"/>
              </a:rPr>
              <a:t>Elasticsearch was just consolidated into PostgreSQL. Adding a vector store puts a data store back.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541264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0F2233"/>
                </a:solidFill>
                <a:latin typeface="Segoe UI"/>
              </a:rPr>
              <a:t>Revisit at roughly ten million vectors — the estate is two orders of magnitude away.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33424F"/>
                </a:solidFill>
                <a:latin typeface="Segoe UI"/>
              </a:rPr>
              <a:t>A cheaper win exists now: institutes_campuses holds ~16 KB per row, so halfvec or binary quantisation would shrink it with no new service.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2032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i="0">
                <a:solidFill>
                  <a:srgbClr val="12314F"/>
                </a:solidFill>
                <a:latin typeface="Segoe UI"/>
              </a:rPr>
              <a:t>PLUGINLIVE</a:t>
            </a:r>
            <a:r>
              <a:rPr sz="1050" b="0" i="0">
                <a:solidFill>
                  <a:srgbClr val="5F7183"/>
                </a:solidFill>
                <a:latin typeface="Segoe UI"/>
              </a:rPr>
              <a:t>     Infrastructure cost optimisation — summary of all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1C4A78"/>
                </a:solidFill>
                <a:latin typeface="Consolas"/>
              </a:rPr>
              <a:t>SECTION 10 · DECISION REGISTER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16736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0F2233"/>
                </a:solidFill>
                <a:latin typeface="Segoe UI Semibold"/>
              </a:rPr>
              <a:t>Decisions to sign 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Segoe UI"/>
              </a:rPr>
              <a:t>Internal — Confidential · Version 4.0 · 25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Segoe UI"/>
              </a:rPr>
              <a:t>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249424"/>
          <a:ext cx="11057837" cy="35021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63470"/>
                <a:gridCol w="4423135"/>
                <a:gridCol w="1216362"/>
                <a:gridCol w="2100989"/>
                <a:gridCol w="2653881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REF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DECISION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OWNER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IF ACCEPTED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IF DECLINED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D-0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Adopt Plan A, Plan B or Plan C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CTO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5653F"/>
                          </a:solidFill>
                          <a:latin typeface="Consolas"/>
                        </a:rPr>
                        <a:t>A → ₹21,000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B → ₹26–44k · C → ₹27–41.3k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D-1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Self-manage PostgreSQL — team owns backups and recovery for a 10 GB database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CTO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5653F"/>
                          </a:solidFill>
                          <a:latin typeface="Consolas"/>
                        </a:rPr>
                        <a:t>−₹17,449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floor becomes ₹38,000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D-2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Two baseline nodes with a calendar burst node, not three always on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Infra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5653F"/>
                          </a:solidFill>
                          <a:latin typeface="Consolas"/>
                        </a:rPr>
                        <a:t>−₹4,421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₹25,400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D-3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Migrate to an OKE Basic cluster — new cluster, DNS cutover, one-way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Infra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5653F"/>
                          </a:solidFill>
                          <a:latin typeface="Consolas"/>
                        </a:rPr>
                        <a:t>−₹6,834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₹27,800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D-4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DEV, UAT and builder off nights and weekends, with a wake-up override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Eng + QA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5653F"/>
                          </a:solidFill>
                          <a:latin typeface="Consolas"/>
                        </a:rPr>
                        <a:t>−₹8,488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₹29,500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D-5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Rewrite BullMQ to Pub/Sub push — Plan B only; unnecessary under Plan C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Backend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5653F"/>
                          </a:solidFill>
                          <a:latin typeface="Consolas"/>
                        </a:rPr>
                        <a:t>−₹11,500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F2233"/>
                          </a:solidFill>
                          <a:latin typeface="Consolas"/>
                        </a:rPr>
                        <a:t>B remains ₹44,000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D-6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Move embeddings to a dedicated vector database — not recommended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CTO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9A4B18"/>
                          </a:solidFill>
                          <a:latin typeface="Consolas"/>
                        </a:rPr>
                        <a:t>+₹2,200–4,400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5653F"/>
                          </a:solidFill>
                          <a:latin typeface="Consolas"/>
                        </a:rPr>
                        <a:t>₹0 — pgvector retained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2032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i="0">
                <a:solidFill>
                  <a:srgbClr val="12314F"/>
                </a:solidFill>
                <a:latin typeface="Segoe UI"/>
              </a:rPr>
              <a:t>PLUGINLIVE</a:t>
            </a:r>
            <a:r>
              <a:rPr sz="1050" b="0" i="0">
                <a:solidFill>
                  <a:srgbClr val="5F7183"/>
                </a:solidFill>
                <a:latin typeface="Segoe UI"/>
              </a:rPr>
              <a:t>     Infrastructure cost optimisation — summary of all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1C4A78"/>
                </a:solidFill>
                <a:latin typeface="Consolas"/>
              </a:rPr>
              <a:t>SECTIONS 11–12 · RISK REGISTER AND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16736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0F2233"/>
                </a:solidFill>
                <a:latin typeface="Segoe UI Semibold"/>
              </a:rPr>
              <a:t>Risks and guardrails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Segoe UI"/>
              </a:rPr>
              <a:t>Internal — Confidential · Version 4.0 · 25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Segoe U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31136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 i="0">
                <a:solidFill>
                  <a:srgbClr val="9A4B18"/>
                </a:solidFill>
                <a:latin typeface="Consolas"/>
              </a:rPr>
              <a:t>OPEN RISKS THAT GATE THE 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596896"/>
            <a:ext cx="475488" cy="201168"/>
          </a:xfrm>
          <a:prstGeom prst="rect">
            <a:avLst/>
          </a:prstGeom>
          <a:noFill/>
          <a:ln w="9525">
            <a:solidFill>
              <a:srgbClr val="A42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615184"/>
            <a:ext cx="4754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800" b="0" i="0">
                <a:solidFill>
                  <a:srgbClr val="A4262C"/>
                </a:solidFill>
                <a:latin typeface="Consolas"/>
              </a:rP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560320"/>
            <a:ext cx="5120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0F2233"/>
                </a:solidFill>
                <a:latin typeface="Segoe UI"/>
              </a:rPr>
              <a:t>pg16 backup retention is 1 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798064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33424F"/>
                </a:solidFill>
                <a:latin typeface="Segoe UI"/>
              </a:rPr>
              <a:t>The only production database has a 24-hour restore window. Raise to 30 days before anything else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346704"/>
            <a:ext cx="475488" cy="201168"/>
          </a:xfrm>
          <a:prstGeom prst="rect">
            <a:avLst/>
          </a:prstGeom>
          <a:noFill/>
          <a:ln w="9525">
            <a:solidFill>
              <a:srgbClr val="A42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364992"/>
            <a:ext cx="4754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800" b="0" i="0">
                <a:solidFill>
                  <a:srgbClr val="A4262C"/>
                </a:solidFill>
                <a:latin typeface="Consolas"/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310128"/>
            <a:ext cx="5120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0F2233"/>
                </a:solidFill>
                <a:latin typeface="Segoe UI"/>
              </a:rPr>
              <a:t>Credentials in plain ConfigMaps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54787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33424F"/>
                </a:solidFill>
                <a:latin typeface="Segoe UI"/>
              </a:rPr>
              <a:t>Cloud, AI and database credentials readable by any cluster user. Move to Secrets or OCI Vault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096512"/>
            <a:ext cx="475488" cy="201168"/>
          </a:xfrm>
          <a:prstGeom prst="rect">
            <a:avLst/>
          </a:prstGeom>
          <a:noFill/>
          <a:ln w="9525">
            <a:solidFill>
              <a:srgbClr val="A42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4114800"/>
            <a:ext cx="4754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800" b="0" i="0">
                <a:solidFill>
                  <a:srgbClr val="A4262C"/>
                </a:solidFill>
                <a:latin typeface="Consola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4059936"/>
            <a:ext cx="5120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0F2233"/>
                </a:solidFill>
                <a:latin typeface="Segoe UI"/>
              </a:rPr>
              <a:t>Overnight CI depends on scheduled hosts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2976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33424F"/>
                </a:solidFill>
                <a:latin typeface="Segoe UI"/>
              </a:rPr>
              <a:t>D-4 stops DEV, UAT and the builder at 20:00. Decide wake-on-demand or move jobs into working hours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846320"/>
            <a:ext cx="475488" cy="201168"/>
          </a:xfrm>
          <a:prstGeom prst="rect">
            <a:avLst/>
          </a:prstGeom>
          <a:noFill/>
          <a:ln w="9525">
            <a:solidFill>
              <a:srgbClr val="9A4B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4864608"/>
            <a:ext cx="4754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800" b="0" i="0">
                <a:solidFill>
                  <a:srgbClr val="9A4B18"/>
                </a:solidFill>
                <a:latin typeface="Consolas"/>
              </a:rPr>
              <a:t>MED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4809744"/>
            <a:ext cx="5120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0F2233"/>
                </a:solidFill>
                <a:latin typeface="Segoe UI"/>
              </a:rPr>
              <a:t>Backup success is not alerted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504748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33424F"/>
                </a:solidFill>
                <a:latin typeface="Segoe UI"/>
              </a:rPr>
              <a:t>Alert on backup age and WAL archiving failure; a runbook is a D-1 deliverable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596128"/>
            <a:ext cx="475488" cy="201168"/>
          </a:xfrm>
          <a:prstGeom prst="rect">
            <a:avLst/>
          </a:prstGeom>
          <a:noFill/>
          <a:ln w="9525">
            <a:solidFill>
              <a:srgbClr val="9A4B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5614416"/>
            <a:ext cx="4754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800" b="0" i="0">
                <a:solidFill>
                  <a:srgbClr val="9A4B18"/>
                </a:solidFill>
                <a:latin typeface="Consolas"/>
              </a:rPr>
              <a:t>MED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5559552"/>
            <a:ext cx="5120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0F2233"/>
                </a:solidFill>
                <a:latin typeface="Segoe UI"/>
              </a:rPr>
              <a:t>Self-managed database ownership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" y="5797296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33424F"/>
                </a:solidFill>
                <a:latin typeface="Segoe UI"/>
              </a:rPr>
              <a:t>Mitigated by a completed restore drill before cutover, not after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76288" y="2231136"/>
            <a:ext cx="4800600" cy="3913632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0" y="2432304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 i="0">
                <a:solidFill>
                  <a:srgbClr val="C7D966"/>
                </a:solidFill>
                <a:latin typeface="Consolas"/>
              </a:rPr>
              <a:t>ACCEPTANCE CRITERIA FOR EVERY PRODUCTION CHANGE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2798064"/>
            <a:ext cx="42976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C7D966"/>
                </a:solidFill>
                <a:latin typeface="Segoe UI"/>
              </a:rPr>
              <a:t>—  </a:t>
            </a:r>
            <a:r>
              <a:rPr sz="1100" b="0">
                <a:solidFill>
                  <a:srgbClr val="EDF0E4"/>
                </a:solidFill>
                <a:latin typeface="Segoe UI"/>
              </a:rPr>
              <a:t>API p95 latency no more than 10% worse than the week-1 baseline</a:t>
            </a:r>
          </a:p>
          <a:p>
            <a:pPr marL="165100" indent="-165100"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C7D966"/>
                </a:solidFill>
                <a:latin typeface="Segoe UI"/>
              </a:rPr>
              <a:t>—  </a:t>
            </a:r>
            <a:r>
              <a:rPr sz="1100" b="0">
                <a:solidFill>
                  <a:srgbClr val="EDF0E4"/>
                </a:solidFill>
                <a:latin typeface="Segoe UI"/>
              </a:rPr>
              <a:t>Error and timeout rates do not increase</a:t>
            </a:r>
          </a:p>
          <a:p>
            <a:pPr marL="165100" indent="-165100"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C7D966"/>
                </a:solidFill>
                <a:latin typeface="Segoe UI"/>
              </a:rPr>
              <a:t>—  </a:t>
            </a:r>
            <a:r>
              <a:rPr sz="1100" b="0">
                <a:solidFill>
                  <a:srgbClr val="EDF0E4"/>
                </a:solidFill>
                <a:latin typeface="Segoe UI"/>
              </a:rPr>
              <a:t>No sustained node CPU above 70–75% after right-sizing</a:t>
            </a:r>
          </a:p>
          <a:p>
            <a:pPr marL="165100" indent="-165100"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C7D966"/>
                </a:solidFill>
                <a:latin typeface="Segoe UI"/>
              </a:rPr>
              <a:t>—  </a:t>
            </a:r>
            <a:r>
              <a:rPr sz="1100" b="0">
                <a:solidFill>
                  <a:srgbClr val="EDF0E4"/>
                </a:solidFill>
                <a:latin typeface="Segoe UI"/>
              </a:rPr>
              <a:t>No OOM kills, memory pressure or unexpected eviction</a:t>
            </a:r>
          </a:p>
          <a:p>
            <a:pPr marL="165100" indent="-165100"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C7D966"/>
                </a:solidFill>
                <a:latin typeface="Segoe UI"/>
              </a:rPr>
              <a:t>—  </a:t>
            </a:r>
            <a:r>
              <a:rPr sz="1100" b="0">
                <a:solidFill>
                  <a:srgbClr val="EDF0E4"/>
                </a:solidFill>
                <a:latin typeface="Segoe UI"/>
              </a:rPr>
              <a:t>Database connections below 70% of the configured limit</a:t>
            </a:r>
          </a:p>
          <a:p>
            <a:pPr marL="165100" indent="-165100"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C7D966"/>
                </a:solidFill>
                <a:latin typeface="Segoe UI"/>
              </a:rPr>
              <a:t>—  </a:t>
            </a:r>
            <a:r>
              <a:rPr sz="1100" b="0">
                <a:solidFill>
                  <a:srgbClr val="EDF0E4"/>
                </a:solidFill>
                <a:latin typeface="Segoe UI"/>
              </a:rPr>
              <a:t>Queue delay and processing time do not materially increase</a:t>
            </a:r>
          </a:p>
          <a:p>
            <a:pPr marL="165100" indent="-165100"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C7D966"/>
                </a:solidFill>
                <a:latin typeface="Segoe UI"/>
              </a:rPr>
              <a:t>—  </a:t>
            </a:r>
            <a:r>
              <a:rPr sz="1100" b="0">
                <a:solidFill>
                  <a:srgbClr val="EDF0E4"/>
                </a:solidFill>
                <a:latin typeface="Segoe UI"/>
              </a:rPr>
              <a:t>Login, assessment, scoring, proctoring and dashboard smoke tests pass</a:t>
            </a:r>
          </a:p>
          <a:p>
            <a:pPr marL="165100" indent="-165100"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C7D966"/>
                </a:solidFill>
                <a:latin typeface="Segoe UI"/>
              </a:rPr>
              <a:t>—  </a:t>
            </a:r>
            <a:r>
              <a:rPr sz="1100" b="0">
                <a:solidFill>
                  <a:srgbClr val="EDF0E4"/>
                </a:solidFill>
                <a:latin typeface="Segoe UI"/>
              </a:rPr>
              <a:t>Every capacity change has a written, tested rollback before it starts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5413248"/>
            <a:ext cx="4297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E3E7DC"/>
                </a:solidFill>
                <a:latin typeface="Segoe UI"/>
              </a:rPr>
              <a:t>Observation windows: 48 hours after a node drain · 7 days after the database cutover · 48 hours before deleting any replaced resource.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2032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i="0">
                <a:solidFill>
                  <a:srgbClr val="12314F"/>
                </a:solidFill>
                <a:latin typeface="Segoe UI"/>
              </a:rPr>
              <a:t>PLUGINLIVE</a:t>
            </a:r>
            <a:r>
              <a:rPr sz="1050" b="0" i="0">
                <a:solidFill>
                  <a:srgbClr val="5F7183"/>
                </a:solidFill>
                <a:latin typeface="Segoe UI"/>
              </a:rPr>
              <a:t>     Infrastructure cost optimisation — summary of all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1C4A78"/>
                </a:solidFill>
                <a:latin typeface="Consolas"/>
              </a:rPr>
              <a:t>SECTION 14 · STATED LAST, AFTER THE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16736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0F2233"/>
                </a:solidFill>
                <a:latin typeface="Segoe UI Semibold"/>
              </a:rPr>
              <a:t>Recommendation — approve Plan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Segoe UI"/>
              </a:rPr>
              <a:t>Internal — Confidential · Version 4.0 · 25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F7183"/>
                </a:solidFill>
                <a:latin typeface="Segoe UI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39696"/>
            <a:ext cx="11057839" cy="960120"/>
          </a:xfrm>
          <a:prstGeom prst="rect">
            <a:avLst/>
          </a:prstGeom>
          <a:solidFill>
            <a:srgbClr val="F4F7F9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139696"/>
            <a:ext cx="40640" cy="960120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0"/>
            <a:ext cx="1050919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33424F"/>
                </a:solidFill>
                <a:latin typeface="Segoe UI"/>
              </a:rPr>
              <a:t>Plan A costs about half of the best achievable Cloud Run outcome, delivers ₹8,488 in week 0 rather than week 10, needs no data migration, and is reversible at every step. Plan B2 reaches near-parity only after a queue rewrite; Plan C is the strongest migration option on risk, yet memory at ₹690 per GiB against 44 GiB resident sets a floor it cannot clear.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3255264"/>
          <a:ext cx="11057838" cy="24048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26940"/>
                <a:gridCol w="5750076"/>
                <a:gridCol w="1990411"/>
                <a:gridCol w="1990411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SEQUENCE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ACTION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OWNER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EFFECT</a:t>
                      </a:r>
                    </a:p>
                  </a:txBody>
                  <a:tcPr marL="82296" marR="82296" marT="36576" marB="36576" anchor="ctr">
                    <a:solidFill>
                      <a:srgbClr val="1231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Immediately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Raise pl-prod-pg16 backup retention 1 → 30 days. Unconditional; it gates the database work under every option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Infra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F7183"/>
                          </a:solidFill>
                          <a:latin typeface="Consolas"/>
                        </a:rPr>
                        <a:t>risk fix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Week 0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Resource Scheduler on DEV, UAT and the builder, with a wake-up override, after resolving the overnight CI dependency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Infra · Eng · QA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5653F"/>
                          </a:solidFill>
                          <a:latin typeface="Consolas"/>
                        </a:rPr>
                        <a:t>₹8,488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Week 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Merge the DEV and UAT database hosts, registry retention, block volumes, seven-day baseline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Infra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5653F"/>
                          </a:solidFill>
                          <a:latin typeface="Consolas"/>
                        </a:rPr>
                        <a:t>₹10,300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Before week 2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Close the instrumentation gaps — Alertmanager in production and 30-day metric retention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Infra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F7183"/>
                          </a:solidFill>
                          <a:latin typeface="Consolas"/>
                        </a:rPr>
                        <a:t>enabler</a:t>
                      </a:r>
                    </a:p>
                  </a:txBody>
                  <a:tcPr marL="82296" marR="82296" marT="27432" marB="27432" anchor="ctr">
                    <a:solidFill>
                      <a:srgbClr val="F4F7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233"/>
                          </a:solidFill>
                          <a:latin typeface="Segoe UI"/>
                        </a:rPr>
                        <a:t>Weeks 2–7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Right-sizing, the OKE Basic rebuild, static sites, then the database cutover — each behind the guardrails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24F"/>
                          </a:solidFill>
                          <a:latin typeface="Segoe UI"/>
                        </a:rPr>
                        <a:t>Infra · Backend · DBA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5653F"/>
                          </a:solidFill>
                          <a:latin typeface="Consolas"/>
                        </a:rPr>
                        <a:t>₹45,000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66928" y="5724143"/>
            <a:ext cx="11057839" cy="658368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833871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What is being asked: </a:t>
            </a:r>
            <a:r>
              <a:rPr sz="1250" b="0" i="0">
                <a:solidFill>
                  <a:srgbClr val="FFFFFF"/>
                </a:solidFill>
                <a:latin typeface="Segoe UI"/>
              </a:rPr>
              <a:t>decision D-0 — adopt Plan A. Weeks 0 and 1 are unconditional and can proceed while D-1 to D-4 are considered.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